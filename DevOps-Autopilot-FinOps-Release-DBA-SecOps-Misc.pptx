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61" r:id="rId14"/>
    <p:sldId id="262" r:id="rId15"/>
    <p:sldId id="263" r:id="rId16"/>
    <p:sldId id="258" r:id="rId11"/>
    <p:sldId id="259" r:id="rId12"/>
    <p:sldId id="260" r:id="rId13"/>
    <p:sldId id="264" r:id="rId3"/>
    <p:sldId id="265" r:id="rId2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12192000"/>
  <p:embeddedFontLst>
    <p:embeddedFont>
      <p:font typeface="Instrument Sans Medium" panose="020B0604020202020204" charset="0"/>
      <p:regular r:id="rId5"/>
    </p:embeddedFont>
    <p:embeddedFont>
      <p:font typeface="Instrument Sans SemiBold" panose="020B0604020202020204" charset="0"/>
      <p:regular r:id="rId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7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64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DevOps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DevOps intelligence for continuous monitoring, decision support and governed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DevOps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Unified executive and developer experience for service health, pipeline health, security, risks, cost and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6 specialist agents continuously monitor delivery, infrastructure and engineering signals and operate without user initiation.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Standardized access to Azure DevOps, GitHub/GitLab, Kubernetes, Terraform, Grafana, Azure Monitor, CMDB and other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Executes approved workflows with policy checks, business rules, retries, notifications and human approval gates.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DevOps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Collect pipeline events, telemetry, changes and enterprise context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Classify failures, anomalies, risks, dependencies and intent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Combine evidence across agents, applications and 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Apply policy, risk and business impact to determine 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Recommend, create tickets or execute approved remediation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Measure outcomes and improve recommendations continuously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Deployment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Reduced failure rate and shorter lead time to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MTTD / MTTR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Faster detection, resolution and reduced operational exposure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Engineer Velocity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Time returned to value creation and improved upgrade readiness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Policy enforcement, auditability and fewer manual approval gaps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Automated triage, reporting and routine remediation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Visibility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Unified context across pipelines, systems and teams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DevOps principle: continuously sense → understand → correlate → decide → act → learn, with human approval where risk requires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Autonomous DevOps AI — Recommended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Event-driven + scheduled analysis | Agent Control Plane + MCP + Logic Apps | Autonomous operation without user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5" name="Picture 4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40312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Design principle: agents reason over shared context; MCP standardizes tool access; Logic Apps governs enterprise workflows; events and schedules keep the platform continuously 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DevOps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Six specialist agents share the same control plane, MCP tools, enterprise context and governed workflow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71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527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Pipeline Intelligence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Predict pipeline/build/deployment failures and recommend delivery optimizations.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Pipeline / release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71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2527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DevOps Governance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733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Continuously assess policy, access, security, audit and configuration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Policy / access / audit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48472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2710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2527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Observability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16733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Correlate metrics, logs and traces to detect anomalies and accelerate root-cause analysis.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1762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Monitoring / telemetry events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8712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8529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Rollback &amp; Recovery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735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Assess rollback strategies, validate safe recovery windows and guide or automate recovery.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764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Deployment / health events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8712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8529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Upgrade Advisor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2735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Analyze dependencies, versions and vulnerabilities and recommend upgrade paths.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7764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Version / dependency changes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8744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48472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287121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2852928"/>
            <a:ext cx="2880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2235A"/>
                </a:solidFill>
                <a:latin typeface="Aptos"/>
              </a:defRPr>
            </a:pPr>
            <a:r>
              <a:t>Knowledge Assistant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3273552"/>
            <a:ext cx="3246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35" b="0">
                <a:solidFill>
                  <a:srgbClr val="283041"/>
                </a:solidFill>
                <a:latin typeface="Aptos"/>
              </a:defRPr>
            </a:pPr>
            <a:r>
              <a:t>Continuously learn from enterprise documentation, runbooks and historical data and provide grounded guidance.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3776472"/>
            <a:ext cx="3246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" b="1">
                <a:solidFill>
                  <a:srgbClr val="237E5A"/>
                </a:solidFill>
                <a:latin typeface="Aptos"/>
              </a:defRPr>
            </a:pPr>
            <a:r>
              <a:t>Trigger: Knowledge refresh + user query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416552"/>
            <a:ext cx="11155680" cy="96012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4590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19" b="1">
                <a:solidFill>
                  <a:srgbClr val="532491"/>
                </a:solidFill>
                <a:latin typeface="Aptos"/>
              </a:defRPr>
            </a:pPr>
            <a:r>
              <a:t>Operating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4535424"/>
            <a:ext cx="9006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" b="1">
                <a:solidFill>
                  <a:srgbClr val="12235A"/>
                </a:solidFill>
                <a:latin typeface="Aptos"/>
              </a:defRPr>
            </a:pPr>
            <a:r>
              <a:t>Observe → Recommend → Automate  |  Low risk: auto-execute  |  Medium risk: approval workflow  |  High risk: recommendation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4983480"/>
            <a:ext cx="10561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40" b="0">
                <a:solidFill>
                  <a:srgbClr val="283041"/>
                </a:solidFill>
                <a:latin typeface="Aptos"/>
              </a:defRPr>
            </a:pPr>
            <a:r>
              <a:t>Shared capabilities: Agent Registry • Routing &amp; Context • Policy &amp; Guardrails • Security &amp; Identity • Audit &amp; Compliance • Observability • Cost &amp; Token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The Knowledge Assistant remains user-facing when needed; the other agents are designed to continuously monitor and act in the background.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AI-Powered FinOps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 proactive, autonomous multi-agent platform for continuous cost intelligence, optimization, forecasting and governed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FinOps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Unified executive experience for cost, savings, forecasts, risks and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9 specialist agents continuously monitor systems and run from events or schedules — no user action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Standardized, governed access to Azure, Fabric, Power BI, ServiceNow, SaaS and FinOps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30" b="0">
                <a:solidFill>
                  <a:srgbClr val="283041"/>
                </a:solidFill>
                <a:latin typeface="Aptos"/>
              </a:defRPr>
            </a:pPr>
            <a:r>
              <a:t>Executes governed workflows with policy checks, approvals, retries, notifications and enterprise integrations.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FinOps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Collect costs, usage, changes, budgets &amp; operational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Detect anomalies, forecast, optimize &amp; score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Combine evidence across resources, owners and business context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Apply policy, risk and business-impact guardrails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Recommend, create tickets or execute approved 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Measure outcomes and feed results back into the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Cost Leakage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Earlier anomaly detection and faster containment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Cloud Run-Rate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Rightsizing, lifecycle and capacity optimization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Forecast 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Proactive budget and spend risk management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Continuous policy, drift and compliance visibility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Automated reporting, tickets and routine actions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Visibility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30" b="0">
                <a:solidFill>
                  <a:srgbClr val="283041"/>
                </a:solidFill>
                <a:latin typeface="Aptos"/>
              </a:defRPr>
            </a:pPr>
            <a:r>
              <a:t>Unified FinOps context across technology and business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FinOps principle: continuously observe → analyze → decide → act → learn, with human approval only where risk requires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Autonomous FinOps AI — Recommended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Event-driven + scheduled analysis | Foundry Agent Service + MCP + Logic Apps + Fabric | Autonomous operation without user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5" name="Picture 4" descr="a_highly_detailed_infographic_architecture_di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40312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Design principle: MCP standardizes agent tool access; Logic Apps governs enterprise workflows; Event Grid/Service Bus trigger continuous work; Fabric provides the FinOps data foundation.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FinOps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Nine specialist agents share the same data, intelligence, tool and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710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2527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Cost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Detect unusual spend and explain drivers before overspend becomes material.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Event + near-real-time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2710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2527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Cost Optimization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733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Identify idle/oversized resources and prioritize savings opportunities.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change-driven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11430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48472" y="12527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2710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2527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Cloud Spend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16733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Forecast month-end/quarterly spend and predict budget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1762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data refresh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8712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28529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Environment Drift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735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Detect configuration/IaC divergence and governance risk.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764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Configuration 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8712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28529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Environment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2735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Correlate health, capacity, backup and incident signals.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37764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Monitoring + scheduled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38744" y="27432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48472" y="28529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28712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28529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Fabric Capacity Optimization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21624" y="32735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Optimize Fabric/Power BI capacity against workload demand.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21624" y="37764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capacity change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3434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2648" y="44531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4714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" y="44531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Executive FinOps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8737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Generate evidence-backed KPI, risk and action summaries.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3766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material event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0832" y="43434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480560" y="44531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4714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4531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Resource Lifecycle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48737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Find stale/unused resources and guide governed cleanup.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53712" y="53766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Scheduled + inactivity threshold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38744" y="4343400"/>
            <a:ext cx="3639312" cy="1353312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348472" y="4453128"/>
            <a:ext cx="347472" cy="34747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8472" y="4471416"/>
            <a:ext cx="3474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5672" y="4453128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FinOps Copilot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1624" y="4873752"/>
            <a:ext cx="3246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283041"/>
                </a:solidFill>
                <a:latin typeface="Aptos"/>
              </a:defRPr>
            </a:pPr>
            <a:r>
              <a:t>Provide governed natural-language FinOps insight when users ask.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21624" y="5376672"/>
            <a:ext cx="3246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237E5A"/>
                </a:solidFill>
                <a:latin typeface="Aptos"/>
              </a:defRPr>
            </a:pPr>
            <a:r>
              <a:t>Trigger: User-facing (optional)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6007608"/>
            <a:ext cx="11155680" cy="41148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6117336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30" b="1">
                <a:solidFill>
                  <a:srgbClr val="532491"/>
                </a:solidFill>
                <a:latin typeface="Aptos"/>
              </a:defRPr>
            </a:pPr>
            <a:r>
              <a:t>Autonomy model: Low risk → auto-execute | Medium risk → approval workflow | High risk → recommendation only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The FinOps Copilot is user-facing; the other agents are designed to operate continuously in the background without user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Release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release intelligence for continuous release communication, governance and 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Release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Unified view of release readiness, governance, evidence, changes, risks and stakeholder communication.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2 specialist agents continuously analyze release artifacts and governance signals from release events and scheduled checkpoints.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Standardized access to Azure DevOps, GitHub/GitLab, ServiceNow, SharePoint, testing and security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Executes governed approval, publishing and release-gating workflows with auditability, retries and notifications.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Release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Capture release, code, deployment and governance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Link requirements, work items, code, tests, changes and incidents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Classify impact, readiness, compliance and release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Create grounded release notes and evidence summaries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Apply policy, approvals and release-gate rules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Validate outcomes and improve release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Release Effort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Automated release-note preparation and evidence packaging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Release Readiness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Continuous validation before deployment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Consistent controls, approvals and audit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Release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Earlier detection of missing or conflicting evidence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Communication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Audience-specific, business-focused release summaries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Traceability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End-to-end linkage from requirement to deployment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Release principle: continuously sense → correlate → assess → generate → decide → act → validate → learn, with deterministic controls for mandatory governance.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Autonomous Release AI — Recommended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Event-driven + scheduled analysis | Agent Control Plane + MCP + Logic Apps | Continuous release intelligence without user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1965960" cy="452628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2235A"/>
                </a:solidFill>
                <a:latin typeface="Aptos"/>
              </a:defRPr>
            </a:pPr>
            <a:r>
              <a:t>1. RELEASE DATA &amp;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Azure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75104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Boards, Repos,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0591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PRs, commits, 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4056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26079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Changes, incidents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9544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Testing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Test &amp; quality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1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Security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77055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SAST / DAST / SCA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19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SharePoint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52543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Requirements &amp; documents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36007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Product / Service Catalog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28031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Ownership &amp; criticality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5"/>
            <a:ext cx="1600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60" b="1">
                <a:solidFill>
                  <a:srgbClr val="532491"/>
                </a:solidFill>
                <a:latin typeface="Aptos"/>
              </a:defRPr>
            </a:pPr>
            <a:r>
              <a:t>Release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03519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Previous notes &amp;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1143000"/>
            <a:ext cx="1874519" cy="45262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13533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2235A"/>
                </a:solidFill>
                <a:latin typeface="Aptos"/>
              </a:defRPr>
            </a:pPr>
            <a:r>
              <a:t>2. TRIGGERING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1755648"/>
            <a:ext cx="15087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181051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532491"/>
                </a:solidFill>
                <a:latin typeface="Aptos"/>
              </a:defRPr>
            </a:pPr>
            <a:r>
              <a:t>Release /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1984248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10" b="0">
                <a:solidFill>
                  <a:srgbClr val="5C6678"/>
                </a:solidFill>
                <a:latin typeface="Aptos"/>
              </a:defRPr>
            </a:pPr>
            <a:r>
              <a:t>Immediate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2322576"/>
            <a:ext cx="15087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2377440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532491"/>
                </a:solidFill>
                <a:latin typeface="Aptos"/>
              </a:defRPr>
            </a:pPr>
            <a:r>
              <a:t>PR / 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2551176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10" b="0">
                <a:solidFill>
                  <a:srgbClr val="5C6678"/>
                </a:solidFill>
                <a:latin typeface="Aptos"/>
              </a:defRPr>
            </a:pPr>
            <a:r>
              <a:t>Change 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2889504"/>
            <a:ext cx="15087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2944368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532491"/>
                </a:solidFill>
                <a:latin typeface="Aptos"/>
              </a:defRPr>
            </a:pPr>
            <a:r>
              <a:t>Change 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118104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10" b="0">
                <a:solidFill>
                  <a:srgbClr val="5C6678"/>
                </a:solidFill>
                <a:latin typeface="Aptos"/>
              </a:defRPr>
            </a:pPr>
            <a:r>
              <a:t>Governance 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3456432"/>
            <a:ext cx="15087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3511296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532491"/>
                </a:solidFill>
                <a:latin typeface="Aptos"/>
              </a:defRPr>
            </a:pPr>
            <a:r>
              <a:t>Test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3685031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10" b="0">
                <a:solidFill>
                  <a:srgbClr val="5C6678"/>
                </a:solidFill>
                <a:latin typeface="Aptos"/>
              </a:defRPr>
            </a:pPr>
            <a:r>
              <a:t>Quality event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4023360"/>
            <a:ext cx="15087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078224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532491"/>
                </a:solidFill>
                <a:latin typeface="Aptos"/>
              </a:defRPr>
            </a:pPr>
            <a:r>
              <a:t>Security Finding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4251960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10" b="0">
                <a:solidFill>
                  <a:srgbClr val="5C6678"/>
                </a:solidFill>
                <a:latin typeface="Aptos"/>
              </a:defRPr>
            </a:pPr>
            <a:r>
              <a:t>Risk event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97480" y="4590288"/>
            <a:ext cx="150876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4645151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20" b="1">
                <a:solidFill>
                  <a:srgbClr val="532491"/>
                </a:solidFill>
                <a:latin typeface="Aptos"/>
              </a:defRPr>
            </a:pPr>
            <a:r>
              <a:t>Scheduled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4818888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10" b="0">
                <a:solidFill>
                  <a:srgbClr val="5C6678"/>
                </a:solidFill>
                <a:latin typeface="Aptos"/>
              </a:defRPr>
            </a:pPr>
            <a:r>
              <a:t>Periodic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1143000"/>
            <a:ext cx="2423160" cy="4526280"/>
          </a:xfrm>
          <a:prstGeom prst="roundRect">
            <a:avLst/>
          </a:prstGeom>
          <a:solidFill>
            <a:srgbClr val="F9FCF8"/>
          </a:solidFill>
          <a:ln w="10160">
            <a:solidFill>
              <a:srgbClr val="A5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13533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237E5A"/>
                </a:solidFill>
                <a:latin typeface="Aptos"/>
              </a:defRPr>
            </a:pPr>
            <a:r>
              <a:t>3. RELEASE EVIDENCE &amp; 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1755648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1">
                <a:solidFill>
                  <a:srgbClr val="12235A"/>
                </a:solidFill>
                <a:latin typeface="Aptos"/>
              </a:defRPr>
            </a:pPr>
            <a:r>
              <a:t>Evidence 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175564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Release artifacts &amp; approvals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2322576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1">
                <a:solidFill>
                  <a:srgbClr val="12235A"/>
                </a:solidFill>
                <a:latin typeface="Aptos"/>
              </a:defRPr>
            </a:pPr>
            <a:r>
              <a:t>Release Graph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23225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Requirement → change → code → deploy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2889504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1">
                <a:solidFill>
                  <a:srgbClr val="12235A"/>
                </a:solidFill>
                <a:latin typeface="Aptos"/>
              </a:defRPr>
            </a:pPr>
            <a:r>
              <a:t>Policy / Controls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2889504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Mandatory release criteria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3456432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1">
                <a:solidFill>
                  <a:srgbClr val="12235A"/>
                </a:solidFill>
                <a:latin typeface="Aptos"/>
              </a:defRPr>
            </a:pPr>
            <a:r>
              <a:t>Service Context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345643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Owner, criticality, customer 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4023360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1">
                <a:solidFill>
                  <a:srgbClr val="12235A"/>
                </a:solidFill>
                <a:latin typeface="Aptos"/>
              </a:defRPr>
            </a:pPr>
            <a:r>
              <a:t>Historical Context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402336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Prior releases, incidents, outcomes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46320" y="4590288"/>
            <a:ext cx="960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1">
                <a:solidFill>
                  <a:srgbClr val="12235A"/>
                </a:solidFill>
                <a:latin typeface="Aptos"/>
              </a:defRPr>
            </a:pPr>
            <a:r>
              <a:t>RAG /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459028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Policies, runbooks, templates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69480" y="1143000"/>
            <a:ext cx="2788920" cy="2148840"/>
          </a:xfrm>
          <a:prstGeom prst="roundRect">
            <a:avLst/>
          </a:prstGeom>
          <a:solidFill>
            <a:srgbClr val="F8F6FF"/>
          </a:solidFill>
          <a:ln w="10160">
            <a:solidFill>
              <a:srgbClr val="91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134416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532491"/>
                </a:solidFill>
                <a:latin typeface="Aptos"/>
              </a:defRPr>
            </a:pPr>
            <a:r>
              <a:t>4. AUTONOMOUS RELEASE AGENT PLATFORM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79" y="1810512"/>
            <a:ext cx="23317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07808" y="1874519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12235A"/>
                </a:solidFill>
                <a:latin typeface="Aptos"/>
              </a:defRPr>
            </a:pPr>
            <a:r>
              <a:t>Release Notes Generator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1856231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Correlate + generate + validate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98079" y="2468880"/>
            <a:ext cx="2331720" cy="512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07808" y="253288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12235A"/>
                </a:solidFill>
                <a:latin typeface="Aptos"/>
              </a:defRPr>
            </a:pPr>
            <a:r>
              <a:t>Release Governance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2514600"/>
            <a:ext cx="1005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Assess readiness + compliance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41280" y="1143000"/>
            <a:ext cx="1600200" cy="214884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78440" y="134416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D27019"/>
                </a:solidFill>
                <a:latin typeface="Aptos"/>
              </a:defRPr>
            </a:pPr>
            <a:r>
              <a:t>5. AI SERVICES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1792224"/>
            <a:ext cx="12344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80" b="0">
                <a:solidFill>
                  <a:srgbClr val="283041"/>
                </a:solidFill>
                <a:latin typeface="Aptos"/>
              </a:defRPr>
            </a:pPr>
            <a:r>
              <a:t>LLM / GenAI</a:t>
            </a:r>
            <a:br/>
            <a:r>
              <a:t>RAG &amp; grounding</a:t>
            </a:r>
            <a:br/>
            <a:r>
              <a:t>Change correlation</a:t>
            </a:r>
            <a:br/>
            <a:r>
              <a:t>Impact classification</a:t>
            </a:r>
            <a:br/>
            <a:r>
              <a:t>Risk scoring</a:t>
            </a:r>
            <a:br/>
            <a:r>
              <a:t>Evidence mapping</a:t>
            </a:r>
            <a:br/>
            <a:r>
              <a:t>Factuality checks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69480" y="3520440"/>
            <a:ext cx="4572000" cy="114300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52360" y="3703320"/>
            <a:ext cx="1417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1">
                <a:solidFill>
                  <a:srgbClr val="12235A"/>
                </a:solidFill>
                <a:latin typeface="Aptos"/>
              </a:defRPr>
            </a:pPr>
            <a:r>
              <a:t>6. TOOL &amp; WORKFLOW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3648456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30" b="1">
                <a:solidFill>
                  <a:srgbClr val="532491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21240" y="3648456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30" b="1">
                <a:solidFill>
                  <a:srgbClr val="2153A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2360" y="4023360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70" b="0">
                <a:solidFill>
                  <a:srgbClr val="283041"/>
                </a:solidFill>
                <a:latin typeface="Aptos"/>
              </a:defRPr>
            </a:pPr>
            <a:r>
              <a:t>MCP: standardized access to DevOps, ServiceNow, SharePoint, testing and security tools  |  Logic Apps: approvals, release gates, publishing, notifications and audit workflows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269480" y="4892040"/>
            <a:ext cx="4572000" cy="77724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52360" y="5065776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D27019"/>
                </a:solidFill>
                <a:latin typeface="Aptos"/>
              </a:defRPr>
            </a:pPr>
            <a:r>
              <a:t>7. OUTCOMES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4992624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80" b="0">
                <a:solidFill>
                  <a:srgbClr val="283041"/>
                </a:solidFill>
                <a:latin typeface="Aptos"/>
              </a:defRPr>
            </a:pPr>
            <a:r>
              <a:t>Release notes • Readiness score • Compliance evidence • Approval requests • Release gates • Audit package • Stakeholder notifications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286000" y="3401568"/>
            <a:ext cx="22860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389120" y="3401568"/>
            <a:ext cx="22860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040880" y="3401568"/>
            <a:ext cx="22860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686800" y="3291840"/>
            <a:ext cx="0" cy="22860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875520" y="3291840"/>
            <a:ext cx="0" cy="22860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555480" y="4663440"/>
            <a:ext cx="0" cy="22860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040880" y="4096512"/>
            <a:ext cx="22860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Continuous loop: ingest → correlate → assess → generate/decide → governed action → validate → learn. Mandatory compliance controls remain deterministic; AI augments interpretation and prioritization.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Release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Two specialist agents share the same evidence foundation, control plane, MCP tools and governed workflow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074920" cy="214884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36192"/>
            <a:ext cx="438912" cy="43891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3619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35A"/>
                </a:solidFill>
                <a:latin typeface="Aptos"/>
              </a:defRPr>
            </a:pPr>
            <a:r>
              <a:t>Release Notes Generator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83041"/>
                </a:solidFill>
                <a:latin typeface="Aptos"/>
              </a:defRPr>
            </a:pPr>
            <a:r>
              <a:t>Continuously correlate work items, code, deployments and incidents to generate grounded, audience-specific release communications.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434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237E5A"/>
                </a:solidFill>
                <a:latin typeface="Aptos"/>
              </a:defRPr>
            </a:pPr>
            <a:r>
              <a:t>Trigger: Release / deployment events + scheduled 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074920" cy="214884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536192"/>
            <a:ext cx="438912" cy="438912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536192"/>
            <a:ext cx="39776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12235A"/>
                </a:solidFill>
                <a:latin typeface="Aptos"/>
              </a:defRPr>
            </a:pPr>
            <a:r>
              <a:t>Release Governance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084831"/>
            <a:ext cx="44348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283041"/>
                </a:solidFill>
                <a:latin typeface="Aptos"/>
              </a:defRPr>
            </a:pPr>
            <a:r>
              <a:t>Continuously validate approvals, testing, security, change records and documentation; score readiness and identify governance gaps.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880360"/>
            <a:ext cx="4434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237E5A"/>
                </a:solidFill>
                <a:latin typeface="Aptos"/>
              </a:defRPr>
            </a:pPr>
            <a:r>
              <a:t>Trigger: Release / change / test / security events + scheduled checkpoints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Shared Autonomous Operating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Release, code, test, security &amp; change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Build a trusted release evidence graph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Readiness, risk, impact &amp; governance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37083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44531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44398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Notes, summaries &amp; evidence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951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3218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126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Policy, approval &amp; gate 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23951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7288" y="53218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3126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Publish, approve, hold or block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239512"/>
            <a:ext cx="2578608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532180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5312664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Confirm outcome after release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199632"/>
            <a:ext cx="11155680" cy="274320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254496"/>
            <a:ext cx="107899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12235A"/>
                </a:solidFill>
                <a:latin typeface="Aptos"/>
              </a:defRPr>
            </a:pPr>
            <a:r>
              <a:t>Autonomy model: Low-risk communication / evidence actions → auto-execute  |  Governance decisions → policy-driven gates / approvals  |  High-risk exceptions → human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Release Autopilot is designed to operate continuously in the background; users intervene only for approvals, exceptions or decisions requiring business accountability.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DBA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database access-risk intelligence for continuous privileged-access monitoring, governance and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DBA Risk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Unified view of privileged-access risk, audit findings, remediation status and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DBA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Continuously analyzes permissions, identities, audit activity, changes and historical findings without user initiation.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Standardized access to SQL metadata, audit data, Entra ID, ServiceNow and governance knowledge.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283041"/>
                </a:solidFill>
                <a:latin typeface="Aptos"/>
              </a:defRPr>
            </a:pPr>
            <a:r>
              <a:t>Executes governed remediation and approval workflows with policy checks, notifications, audit trails and rollback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DBA Risk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Collect permission, identity, audit and change signals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Establish approved access and normal activity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Detect excessive, stale or anomalous privileged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Score risk using identity, database and business context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Recommend, approve or execute governed remediation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0">
                <a:solidFill>
                  <a:srgbClr val="283041"/>
                </a:solidFill>
                <a:latin typeface="Aptos"/>
              </a:defRPr>
            </a:pPr>
            <a:r>
              <a:t>Verify remediation effectiveness and update audit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Access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Earlier identification of excessive and anomalous privileges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Audit Exposure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Continuous evidence and proactive audit-risk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Remediation Effectiveness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Verify that corrective actions actually reduced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Automated permission analysis and evidence preparation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Consistent application of privileged-access standards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Traceability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Link identity, permission, change, finding and remediation history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DBA principle: continuously sense → baseline → assess → prioritize → act → validate, with deterministic access controls and human approval for high-risk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Autonomous DBA AI — Recommended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Event-driven + scheduled analysis | Autonomous DBA Agent + MCP + Logic Apps | Continuous privileged-access risk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011680" cy="461772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2235A"/>
                </a:solidFill>
                <a:latin typeface="Aptos"/>
              </a:defRPr>
            </a:pPr>
            <a:r>
              <a:t>1. DATA &amp;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SQL Server / Azure SQL 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Permissions, roles, logins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DDL Audit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14016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Database change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06624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Entra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9504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Identity and group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82112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64992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Incidents / CRs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Audit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Prior findings and trends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33087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Permissions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15968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Historical access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08575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Audit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91455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KPMG / audit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84063"/>
            <a:ext cx="1600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532491"/>
                </a:solidFill>
                <a:latin typeface="Aptos"/>
              </a:defRPr>
            </a:pPr>
            <a:r>
              <a:t>PAM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66943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30" b="0">
                <a:solidFill>
                  <a:srgbClr val="283041"/>
                </a:solidFill>
                <a:latin typeface="Aptos"/>
              </a:defRPr>
            </a:pPr>
            <a:r>
              <a:t>Privileged-access policies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42032" y="1143000"/>
            <a:ext cx="1874519" cy="461772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134416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12235A"/>
                </a:solidFill>
                <a:latin typeface="Aptos"/>
              </a:defRPr>
            </a:pPr>
            <a:r>
              <a:t>2. TRIGGERING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24912" y="1755648"/>
            <a:ext cx="1508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1810512"/>
            <a:ext cx="13258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532491"/>
                </a:solidFill>
                <a:latin typeface="Aptos"/>
              </a:defRPr>
            </a:pPr>
            <a:r>
              <a:t>Permission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6352" y="2002536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C6678"/>
                </a:solidFill>
                <a:latin typeface="Aptos"/>
              </a:defRPr>
            </a:pPr>
            <a:r>
              <a:t>Access event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24912" y="2340864"/>
            <a:ext cx="1508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16352" y="2395728"/>
            <a:ext cx="13258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532491"/>
                </a:solidFill>
                <a:latin typeface="Aptos"/>
              </a:defRPr>
            </a:pPr>
            <a:r>
              <a:t>DDL / Audit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16352" y="2587752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C6678"/>
                </a:solidFill>
                <a:latin typeface="Aptos"/>
              </a:defRPr>
            </a:pPr>
            <a:r>
              <a:t>Activity 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24912" y="2926080"/>
            <a:ext cx="1508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16352" y="2980944"/>
            <a:ext cx="13258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532491"/>
                </a:solidFill>
                <a:latin typeface="Aptos"/>
              </a:defRPr>
            </a:pPr>
            <a:r>
              <a:t>Identity 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6352" y="3172968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C6678"/>
                </a:solidFill>
                <a:latin typeface="Aptos"/>
              </a:defRPr>
            </a:pPr>
            <a:r>
              <a:t>Entra 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4912" y="3511296"/>
            <a:ext cx="1508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16352" y="3566160"/>
            <a:ext cx="13258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532491"/>
                </a:solidFill>
                <a:latin typeface="Aptos"/>
              </a:defRPr>
            </a:pPr>
            <a:r>
              <a:t>ServiceNow 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16352" y="3758183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C6678"/>
                </a:solidFill>
                <a:latin typeface="Aptos"/>
              </a:defRPr>
            </a:pPr>
            <a:r>
              <a:t>Change event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24912" y="4096512"/>
            <a:ext cx="1508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16352" y="4151376"/>
            <a:ext cx="13258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532491"/>
                </a:solidFill>
                <a:latin typeface="Aptos"/>
              </a:defRPr>
            </a:pPr>
            <a:r>
              <a:t>Audit Finding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4343400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C6678"/>
                </a:solidFill>
                <a:latin typeface="Aptos"/>
              </a:defRPr>
            </a:pPr>
            <a:r>
              <a:t>Risk event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24912" y="4681728"/>
            <a:ext cx="15087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4736592"/>
            <a:ext cx="13258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1">
                <a:solidFill>
                  <a:srgbClr val="532491"/>
                </a:solidFill>
                <a:latin typeface="Aptos"/>
              </a:defRPr>
            </a:pPr>
            <a:r>
              <a:t>Scheduled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4928616"/>
            <a:ext cx="132588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" b="0">
                <a:solidFill>
                  <a:srgbClr val="5C6678"/>
                </a:solidFill>
                <a:latin typeface="Aptos"/>
              </a:defRPr>
            </a:pPr>
            <a:r>
              <a:t>Periodic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45152" y="1143000"/>
            <a:ext cx="2423160" cy="4617720"/>
          </a:xfrm>
          <a:prstGeom prst="roundRect">
            <a:avLst/>
          </a:prstGeom>
          <a:solidFill>
            <a:srgbClr val="F9FCF8"/>
          </a:solidFill>
          <a:ln w="10160">
            <a:solidFill>
              <a:srgbClr val="A5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8032" y="1344168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237E5A"/>
                </a:solidFill>
                <a:latin typeface="Aptos"/>
              </a:defRPr>
            </a:pPr>
            <a:r>
              <a:t>3. ACCESS RISK FOUNDATION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8" y="175564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12235A"/>
                </a:solidFill>
                <a:latin typeface="Aptos"/>
              </a:defRPr>
            </a:pPr>
            <a:r>
              <a:t>Identity-Access 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88152" y="175564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20" b="0">
                <a:solidFill>
                  <a:srgbClr val="283041"/>
                </a:solidFill>
                <a:latin typeface="Aptos"/>
              </a:defRPr>
            </a:pPr>
            <a:r>
              <a:t>Identity → login → role → database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4608" y="2340864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12235A"/>
                </a:solidFill>
                <a:latin typeface="Aptos"/>
              </a:defRPr>
            </a:pPr>
            <a:r>
              <a:t>Approved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88152" y="2340864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20" b="0">
                <a:solidFill>
                  <a:srgbClr val="283041"/>
                </a:solidFill>
                <a:latin typeface="Aptos"/>
              </a:defRPr>
            </a:pPr>
            <a:r>
              <a:t>Expected privileged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4608" y="2926080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12235A"/>
                </a:solidFill>
                <a:latin typeface="Aptos"/>
              </a:defRPr>
            </a:pPr>
            <a:r>
              <a:t>Permission Graph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88152" y="2926080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20" b="0">
                <a:solidFill>
                  <a:srgbClr val="283041"/>
                </a:solidFill>
                <a:latin typeface="Aptos"/>
              </a:defRPr>
            </a:pPr>
            <a:r>
              <a:t>Roles, grants and dependencies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64608" y="3511296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12235A"/>
                </a:solidFill>
                <a:latin typeface="Aptos"/>
              </a:defRPr>
            </a:pPr>
            <a:r>
              <a:t>Change Context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88152" y="351129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20" b="0">
                <a:solidFill>
                  <a:srgbClr val="283041"/>
                </a:solidFill>
                <a:latin typeface="Aptos"/>
              </a:defRPr>
            </a:pPr>
            <a:r>
              <a:t>Approved CRs and remediation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64608" y="4096512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12235A"/>
                </a:solidFill>
                <a:latin typeface="Aptos"/>
              </a:defRPr>
            </a:pPr>
            <a:r>
              <a:t>Risk History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88152" y="409651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20" b="0">
                <a:solidFill>
                  <a:srgbClr val="283041"/>
                </a:solidFill>
                <a:latin typeface="Aptos"/>
              </a:defRPr>
            </a:pPr>
            <a:r>
              <a:t>Audit findings and repeat issues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64608" y="4681728"/>
            <a:ext cx="10058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12235A"/>
                </a:solidFill>
                <a:latin typeface="Aptos"/>
              </a:defRPr>
            </a:pPr>
            <a:r>
              <a:t>Knowledge / RAG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88152" y="468172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20" b="0">
                <a:solidFill>
                  <a:srgbClr val="283041"/>
                </a:solidFill>
                <a:latin typeface="Aptos"/>
              </a:defRPr>
            </a:pPr>
            <a:r>
              <a:t>PAM standards and audit policies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5200" y="1143000"/>
            <a:ext cx="2743200" cy="2103120"/>
          </a:xfrm>
          <a:prstGeom prst="roundRect">
            <a:avLst/>
          </a:prstGeom>
          <a:solidFill>
            <a:srgbClr val="F8F6FF"/>
          </a:solidFill>
          <a:ln w="10160">
            <a:solidFill>
              <a:srgbClr val="91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79" y="134416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532491"/>
                </a:solidFill>
                <a:latin typeface="Aptos"/>
              </a:defRPr>
            </a:pPr>
            <a:r>
              <a:t>4. AUTONOMOUS DBA AGENT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16368" y="1847088"/>
            <a:ext cx="233172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1911095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12235A"/>
                </a:solidFill>
                <a:latin typeface="Aptos"/>
              </a:defRPr>
            </a:pPr>
            <a:r>
              <a:t>Privileged Access Risk Intelligence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2139696"/>
            <a:ext cx="2103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70" b="0">
                <a:solidFill>
                  <a:srgbClr val="283041"/>
                </a:solidFill>
                <a:latin typeface="Aptos"/>
              </a:defRPr>
            </a:pPr>
            <a:r>
              <a:t>Detect • Explain • Prioritize • Recommend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2633472"/>
            <a:ext cx="2377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237E5A"/>
                </a:solidFill>
                <a:latin typeface="Aptos"/>
              </a:defRPr>
            </a:pPr>
            <a:r>
              <a:t>Continuously monitors access, audit, identity and change signals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59568" y="1143000"/>
            <a:ext cx="1627632" cy="210312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78440" y="1344168"/>
            <a:ext cx="1389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27019"/>
                </a:solidFill>
                <a:latin typeface="Aptos"/>
              </a:defRPr>
            </a:pPr>
            <a:r>
              <a:t>5. AI SERVICES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05872" y="1783080"/>
            <a:ext cx="133502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60" b="0">
                <a:solidFill>
                  <a:srgbClr val="283041"/>
                </a:solidFill>
                <a:latin typeface="Aptos"/>
              </a:defRPr>
            </a:pPr>
            <a:r>
              <a:t>Risk scoring</a:t>
            </a:r>
            <a:br/>
            <a:r>
              <a:t>Permission graph analysis</a:t>
            </a:r>
            <a:br/>
            <a:r>
              <a:t>Anomaly detection</a:t>
            </a:r>
            <a:br/>
            <a:r>
              <a:t>Trend analysis</a:t>
            </a:r>
            <a:br/>
            <a:r>
              <a:t>LLM / GenAI</a:t>
            </a:r>
            <a:br/>
            <a:r>
              <a:t>RAG &amp; evidence mapping</a:t>
            </a:r>
            <a:br/>
            <a:r>
              <a:t>Remediation recommendations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15200" y="3493008"/>
            <a:ext cx="4572000" cy="1207008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79" y="3675887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9" b="1">
                <a:solidFill>
                  <a:srgbClr val="12235A"/>
                </a:solidFill>
                <a:latin typeface="Aptos"/>
              </a:defRPr>
            </a:pPr>
            <a:r>
              <a:t>6. TOOL &amp; WORKFLOW LAYER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23960" y="36393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532491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21240" y="3639312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153AA"/>
                </a:solidFill>
                <a:latin typeface="Aptos"/>
              </a:defRPr>
            </a:pPr>
            <a:r>
              <a:t>Logic Apps / ServiceNow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4005072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70" b="0">
                <a:solidFill>
                  <a:srgbClr val="283041"/>
                </a:solidFill>
                <a:latin typeface="Aptos"/>
              </a:defRPr>
            </a:pPr>
            <a:r>
              <a:t>MCP: standardized access to database, identity, audit and ITSM tools  |  Logic Apps: approval, remediation, notification and evidence workflows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0" y="4956048"/>
            <a:ext cx="4572000" cy="786384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79" y="5129784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D27019"/>
                </a:solidFill>
                <a:latin typeface="Aptos"/>
              </a:defRPr>
            </a:pPr>
            <a:r>
              <a:t>7. OUTCOMES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13648" y="505663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60" b="0">
                <a:solidFill>
                  <a:srgbClr val="283041"/>
                </a:solidFill>
                <a:latin typeface="Aptos"/>
              </a:defRPr>
            </a:pPr>
            <a:r>
              <a:t>Risk alerts • Access-review findings • ServiceNow actions • Approval requests • Remediation • Audit evidence • Effectiveness validation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331720" y="3456432"/>
            <a:ext cx="210312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16552" y="3456432"/>
            <a:ext cx="22860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068312" y="3456432"/>
            <a:ext cx="246888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686800" y="3246120"/>
            <a:ext cx="0" cy="246888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966960" y="3246120"/>
            <a:ext cx="0" cy="246888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555480" y="4700016"/>
            <a:ext cx="0" cy="256032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Continuous loop: ingest → baseline → assess → prioritize → governed remediation → validate → learn. Deterministic access policies remain authoritative; AI augments correlation, explanation and prioritization.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DBA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One specialist agent today, built on a reusable DBA control, context and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0789920" cy="210312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2235A"/>
                </a:solidFill>
                <a:latin typeface="Aptos"/>
              </a:defRPr>
            </a:pPr>
            <a:r>
              <a:t>Privileged Access Risk Intelligence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283041"/>
                </a:solidFill>
                <a:latin typeface="Aptos"/>
              </a:defRPr>
            </a:pPr>
            <a:r>
              <a:t>Continuously analyzes SQL Server permissions, audit activity, identity context, ServiceNow changes, historical findings and privileged-access standards to detect high-risk access, explain the risk, prioritize remediation and verify effectiveness.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9966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237E5A"/>
                </a:solidFill>
                <a:latin typeface="Aptos"/>
              </a:defRPr>
            </a:pPr>
            <a:r>
              <a:t>Trigger: Permission / identity / DDL / audit / change events + scheduled privileged-access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Autonomous Operating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Identity, permission, audit &amp; change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5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Approved privileged-access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Excessive, stale or anomalous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Risk, criticality &amp; audit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5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Recommend / approve / execute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Confirm access reduction &amp; evidence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053328"/>
            <a:ext cx="11155680" cy="438912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172200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60" b="1">
                <a:solidFill>
                  <a:srgbClr val="12235A"/>
                </a:solidFill>
                <a:latin typeface="Aptos"/>
              </a:defRPr>
            </a:pPr>
            <a:r>
              <a:t>Autonomy model: Low-risk analysis / evidence → auto-generate  |  Medium-risk remediation → approval workflow  |  High-risk privileged-access change → human authorization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DBA Autopilot is designed for continuous background operation; DBAs, security and audit teams intervene for approvals, exceptions and high-impact access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SecOps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vulnerability intelligence for continuous finding analysis, remediation planning, governed closure and security-risk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Security Risk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Unified view of vulnerabilities, penetration-test findings, exposure, remediation status and verified 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SecOps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Continuously analyzes security findings and enriches them with asset, architecture, dependency and business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MCP Tool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Standardized access to security scanners, Defender, Azure Resource Graph, ServiceNow, Azure DevOps and security knowledge.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Executes governed remediation, approval, notification and validation workflows with complete auditability.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SecOps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Collect vulnerability, penetration-test and security findings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Map findings to assets, owners, architecture and dependencies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Evaluate exploitability, exposure, criticality and root cause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Generate remediation options, effort and risk trade-offs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Route through governed engineering and approval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Re-scan, verify closure and learn from remediation outcomes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Security Exposure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Faster remediation of critical vulnerabilities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MTTR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Shorter security-to-engineering remediation cycle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Remediation 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Evidence-backed plans and verified closure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Automated finding enrichment and root-cause assessment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Governance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Consistent approval, tracking and audit evidence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Security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Reusable repository of successful remediations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SecOps principle: continuously sense → enrich → assess → plan → act → validate → learn, with high-impact remediation remaining approval-controlled.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Autonomous SecOps AI — Recommended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Event-driven + scheduled analysis | Autonomous SecOps Agent + MCP + Logic Apps | Continuous vulnerability intelligence without user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1965960" cy="466344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12235A"/>
                </a:solidFill>
                <a:latin typeface="Aptos"/>
              </a:defRPr>
            </a:pPr>
            <a:r>
              <a:t>1. SECURITY DATA &amp;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Penetration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11095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Third-party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85415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Vulnerability Scanners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9151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Qualys / Tenable / Rapid7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33472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Microsoft Defender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0720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Security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55264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Tickets /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Azure Resource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Asset /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40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Azure 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51376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Engineering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25696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Architecture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99432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Application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73752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Historical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47488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Incidents / vulnerabilities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21808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SharePoint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95544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Standards / knowledge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0592" y="1143000"/>
            <a:ext cx="1828800" cy="466344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33472" y="134416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12235A"/>
                </a:solidFill>
                <a:latin typeface="Aptos"/>
              </a:defRPr>
            </a:pPr>
            <a:r>
              <a:t>2. TRIGGERING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33472" y="1755648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4912" y="1810512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New Finding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2011680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Scanner event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3472" y="2377440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2432304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P-Test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2633472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New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33472" y="2999232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24912" y="3054096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Asset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4912" y="3255264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Context event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33472" y="3621024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4912" y="3675887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Criticality Change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4912" y="3877056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Risk event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33472" y="4242816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4912" y="4297680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Remediation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4912" y="4498848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Workflow event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33472" y="4864608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4919472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Scheduled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4912" y="5120640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Periodic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62272" y="1143000"/>
            <a:ext cx="2331720" cy="4663440"/>
          </a:xfrm>
          <a:prstGeom prst="roundRect">
            <a:avLst/>
          </a:prstGeom>
          <a:solidFill>
            <a:srgbClr val="F9FCF8"/>
          </a:solidFill>
          <a:ln w="10160">
            <a:solidFill>
              <a:srgbClr val="A5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134416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37E5A"/>
                </a:solidFill>
                <a:latin typeface="Aptos"/>
              </a:defRPr>
            </a:pPr>
            <a:r>
              <a:t>3. VULNERABILITY EVIDENCE FOUNDATION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8" y="1746504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Finding Repository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1746504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Normalized findings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2304288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Asset &amp; Owner Map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2304288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Affected component +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1728" y="2862072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Dependency Graph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6128" y="2862072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Application / infra links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8" y="3419856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8" y="3419856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Criticality +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1728" y="3977639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Remediation History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96128" y="3977639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Past fixes / outcomes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81728" y="4535424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Security Knowledge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96128" y="4535424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Standards / runbooks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81728" y="5093208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Validation Evidence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96128" y="5093208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Re-scan / closure proof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76872" y="1143000"/>
            <a:ext cx="2514600" cy="2148840"/>
          </a:xfrm>
          <a:prstGeom prst="roundRect">
            <a:avLst/>
          </a:prstGeom>
          <a:solidFill>
            <a:srgbClr val="F8F6FF"/>
          </a:solidFill>
          <a:ln w="10160">
            <a:solidFill>
              <a:srgbClr val="91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59752" y="134416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4. AUTONOMOUS SECOPS AGENT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68896" y="1856231"/>
            <a:ext cx="213055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0336" y="1920240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90" b="1">
                <a:solidFill>
                  <a:srgbClr val="12235A"/>
                </a:solidFill>
                <a:latin typeface="Aptos"/>
              </a:defRPr>
            </a:pPr>
            <a:r>
              <a:t>Vulnerability Resolution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0336" y="2157984"/>
            <a:ext cx="1947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50" b="0">
                <a:solidFill>
                  <a:srgbClr val="283041"/>
                </a:solidFill>
                <a:latin typeface="Aptos"/>
              </a:defRPr>
            </a:pPr>
            <a:r>
              <a:t>Analyze • Plan • Orchestrate • Validate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8896" y="2651760"/>
            <a:ext cx="213055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80" b="0">
                <a:solidFill>
                  <a:srgbClr val="237E5A"/>
                </a:solidFill>
                <a:latin typeface="Aptos"/>
              </a:defRPr>
            </a:pPr>
            <a:r>
              <a:t>Continuously enriches findings and drives governed closure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74352" y="1143000"/>
            <a:ext cx="2194560" cy="214884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57232" y="13441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27019"/>
                </a:solidFill>
                <a:latin typeface="Aptos"/>
              </a:defRPr>
            </a:pPr>
            <a:r>
              <a:t>5. AI SERVICES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7232" y="178308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50" b="0">
                <a:solidFill>
                  <a:srgbClr val="283041"/>
                </a:solidFill>
                <a:latin typeface="Aptos"/>
              </a:defRPr>
            </a:pPr>
            <a:r>
              <a:t>Finding normalization</a:t>
            </a:r>
            <a:br/>
            <a:r>
              <a:t>Asset correlation</a:t>
            </a:r>
            <a:br/>
            <a:r>
              <a:t>Dependency analysis</a:t>
            </a:r>
            <a:br/>
            <a:r>
              <a:t>Exploitability / risk scoring</a:t>
            </a:r>
            <a:br/>
            <a:r>
              <a:t>LLM / GenAI</a:t>
            </a:r>
            <a:br/>
            <a:r>
              <a:t>RAG &amp; security reasoning</a:t>
            </a:r>
            <a:br/>
            <a:r>
              <a:t>Remediation ranking</a:t>
            </a:r>
            <a:br/>
            <a:r>
              <a:t>Effort estimation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976872" y="3547872"/>
            <a:ext cx="4892040" cy="1170432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59752" y="372160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12235A"/>
                </a:solidFill>
                <a:latin typeface="Aptos"/>
              </a:defRPr>
            </a:pPr>
            <a:r>
              <a:t>6. TOOL &amp; WORKFLOW LAYER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77072" y="368503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0" b="1">
                <a:solidFill>
                  <a:srgbClr val="532491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82912" y="368503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2153AA"/>
                </a:solidFill>
                <a:latin typeface="Aptos"/>
              </a:defRPr>
            </a:pPr>
            <a:r>
              <a:t>Logic Apps / ServiceNow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9752" y="4050791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50" b="0">
                <a:solidFill>
                  <a:srgbClr val="283041"/>
                </a:solidFill>
                <a:latin typeface="Aptos"/>
              </a:defRPr>
            </a:pPr>
            <a:r>
              <a:t>MCP: standardized access to security scanners, cloud assets, ITSM and engineering tools  |  Logic Apps: approval, remediation, notifications and validation workflows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76872" y="4983480"/>
            <a:ext cx="4892040" cy="82296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59752" y="515721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D27019"/>
                </a:solidFill>
                <a:latin typeface="Aptos"/>
              </a:defRPr>
            </a:pPr>
            <a:r>
              <a:t>7. OUTCOMES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1312" y="5084064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50" b="0">
                <a:solidFill>
                  <a:srgbClr val="283041"/>
                </a:solidFill>
                <a:latin typeface="Aptos"/>
              </a:defRPr>
            </a:pPr>
            <a:r>
              <a:t>Remediation plan • Risk score • ServiceNow/Azure DevOps actions • Approval requests • Re-scan • Verified closure • Audit evidence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240280" y="3474720"/>
            <a:ext cx="210312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279392" y="3474720"/>
            <a:ext cx="18288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793992" y="3474720"/>
            <a:ext cx="18288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183879" y="3291840"/>
            <a:ext cx="0" cy="256032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29800" y="3291840"/>
            <a:ext cx="0" cy="256032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418320" y="4718304"/>
            <a:ext cx="0" cy="265176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Continuous loop: ingest → enrich → assess → plan → governed remediation → validate → learn. Security policy, authorization and production-change controls remain deterministic and authoritative.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SecOps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One specialist agent today, built on a reusable SecOps evidence, context and governed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0789920" cy="214884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12235A"/>
                </a:solidFill>
                <a:latin typeface="Aptos"/>
              </a:defRPr>
            </a:pPr>
            <a:r>
              <a:t>Vulnerability Resolution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283041"/>
                </a:solidFill>
                <a:latin typeface="Aptos"/>
              </a:defRPr>
            </a:pPr>
            <a:r>
              <a:t>Continuously ingests vulnerability and penetration-test findings, enriches them with asset, architecture, dependency and business context, analyzes exploitability and root cause, recommends remediation paths, orchestrates governed closure and validates the outcome.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9966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40" b="1">
                <a:solidFill>
                  <a:srgbClr val="237E5A"/>
                </a:solidFill>
                <a:latin typeface="Aptos"/>
              </a:defRPr>
            </a:pPr>
            <a:r>
              <a:t>Trigger: New security finding / report / asset context / remediation event + scheduled vulnerability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9476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Autonomous Operating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Findings, assets, security &amp; change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5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Enrich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Map finding → asset → dependency →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2062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42976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793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Exploitability, exposure &amp; business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Remediation options + effort / trade-offs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5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9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Governed engineering 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120640"/>
            <a:ext cx="345643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6" y="5212079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40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193792"/>
            <a:ext cx="22677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0">
                <a:solidFill>
                  <a:srgbClr val="283041"/>
                </a:solidFill>
                <a:latin typeface="Aptos"/>
              </a:defRPr>
            </a:pPr>
            <a:r>
              <a:t>Re-scan and verify closure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053328"/>
            <a:ext cx="11155680" cy="438912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172200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12235A"/>
                </a:solidFill>
                <a:latin typeface="Aptos"/>
              </a:defRPr>
            </a:pPr>
            <a:r>
              <a:t>Autonomy model: Low-risk analysis / recommendations → auto-generate  |  Medium-risk remediation → approval workflow  |  High-impact security changes → human authorization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SecOps Autopilot is designed for continuous background operation; security and engineering teams intervene for approvals, exceptions and high-impact remediation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Business Intelligence Autopilot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Autonomous AI for proactive customer-risk prediction and independent actuarial decision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Platform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4533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Business Risk Control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52704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Unified view of complaint propensity, conduct risk, actuarial review findings and decision-assurance status.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6771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6829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Autonomous Agent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5000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Two specialist agents continuously analyze business, customer and actuarial evidence with scheduled and event-driven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9067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9125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AI &amp; Context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17296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Governed predictive models, RAG, LLM reasoning, evidence reconciliation and explainability across domain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2"/>
            <a:ext cx="4754880" cy="658368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14216"/>
            <a:ext cx="16002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2235A"/>
                </a:solidFill>
                <a:latin typeface="Aptos"/>
              </a:defRPr>
            </a:pPr>
            <a:r>
              <a:t>Logic Apps /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90" b="0">
                <a:solidFill>
                  <a:srgbClr val="283041"/>
                </a:solidFill>
                <a:latin typeface="Aptos"/>
              </a:defRPr>
            </a:pPr>
            <a:r>
              <a:t>Routes investigations, reviews, approvals, interventions and assurance packs through controlled enterprise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1024128"/>
            <a:ext cx="5989320" cy="361188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1243584"/>
            <a:ext cx="5440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532491"/>
                </a:solidFill>
                <a:latin typeface="Aptos"/>
              </a:defRPr>
            </a:pPr>
            <a:r>
              <a:t>Continuous Business Intelligence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Continuously collect customer, policy, claims and actuarial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8" y="1664208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69096" y="1773936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37360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975104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Predict complaint risk or reconcile actuarial conclusions to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7608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Explain drivers, anomalies, assumptions and evidence gaps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2560320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69096" y="267004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633472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871215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Rank customer-risk or actuarial issues by materiality and confidence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7608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Route investigations, interventions or actuarial review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59368" y="3456432"/>
            <a:ext cx="24871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69096" y="356616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529584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12235A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767328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283041"/>
                </a:solidFill>
                <a:latin typeface="Aptos"/>
              </a:defRPr>
            </a:pPr>
            <a:r>
              <a:t>Monitor outcomes, drift, fairness and recurring review findings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892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Business Outcomes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Preventable Complaints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39112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Earlier identification of complaint-prone patterns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5112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Customer Experience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9864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Proactive investigation and intervention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5285232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Decision Confidence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616" y="528523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Independent actuarial challenge before publication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Governance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9112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Evidence-linked findings and transparent review trails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25112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↓ Manual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Automated prediction, reconciliation and prioritization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585216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237E5A"/>
                </a:solidFill>
                <a:latin typeface="Aptos"/>
              </a:defRPr>
            </a:pPr>
            <a:r>
              <a:t>↑ Auditability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0616" y="585216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10" b="0">
                <a:solidFill>
                  <a:srgbClr val="283041"/>
                </a:solidFill>
                <a:latin typeface="Aptos"/>
              </a:defRPr>
            </a:pPr>
            <a:r>
              <a:t>Traceable evidence, assumptions and decisions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Principle: continuously ingest → analyze → challenge → prioritize → act/review → validate → learn, with human accountability retained for material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Autonomous Business AI — Recommended Implementation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Event-driven + scheduled analysis | Predictive AI + RAG + governed workflows | Continuous decision assurance without user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1965960" cy="4663440"/>
          </a:xfrm>
          <a:prstGeom prst="roundRect">
            <a:avLst/>
          </a:prstGeom>
          <a:solidFill>
            <a:srgbClr val="FAFC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12235A"/>
                </a:solidFill>
                <a:latin typeface="Aptos"/>
              </a:defRPr>
            </a:pPr>
            <a:r>
              <a:t>1. DOMAIN DATA &amp;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Customer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9384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Service / contact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76856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Claims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50591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Claims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98063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Underwriting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71799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Policy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9271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Policy Administration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7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Policy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40479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14215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Historical complaints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Actuarial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35424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Monthly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82896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Premium /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56632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Exposure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04104"/>
            <a:ext cx="15544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532491"/>
                </a:solidFill>
                <a:latin typeface="Aptos"/>
              </a:defRPr>
            </a:pPr>
            <a:r>
              <a:t>Historical Reserves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554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10" b="0">
                <a:solidFill>
                  <a:srgbClr val="283041"/>
                </a:solidFill>
                <a:latin typeface="Aptos"/>
              </a:defRPr>
            </a:pPr>
            <a:r>
              <a:t>Reserve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50592" y="1143000"/>
            <a:ext cx="1828800" cy="4663440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134416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1">
                <a:solidFill>
                  <a:srgbClr val="12235A"/>
                </a:solidFill>
                <a:latin typeface="Aptos"/>
              </a:defRPr>
            </a:pPr>
            <a:r>
              <a:t>2. TRIGGERING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3472" y="1755648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24912" y="1810512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New Interaction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4912" y="2011680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Risk signal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33472" y="2377440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4912" y="2432304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Complaint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2633472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Outcome signal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33472" y="2999232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3054096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Actuarial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24912" y="3255264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Review 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33472" y="3621024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24912" y="3675887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Data Refresh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24912" y="3877056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Analysis event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33472" y="4242816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24912" y="4297680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Material Movement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4912" y="4498848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Risk event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33472" y="4864608"/>
            <a:ext cx="146304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24912" y="4919472"/>
            <a:ext cx="1280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90" b="1">
                <a:solidFill>
                  <a:srgbClr val="532491"/>
                </a:solidFill>
                <a:latin typeface="Aptos"/>
              </a:defRPr>
            </a:pPr>
            <a:r>
              <a:t>Scheduled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24912" y="5120640"/>
            <a:ext cx="128016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90" b="0">
                <a:solidFill>
                  <a:srgbClr val="5C6678"/>
                </a:solidFill>
                <a:latin typeface="Aptos"/>
              </a:defRPr>
            </a:pPr>
            <a:r>
              <a:t>Periodic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62272" y="1143000"/>
            <a:ext cx="2331720" cy="4663440"/>
          </a:xfrm>
          <a:prstGeom prst="roundRect">
            <a:avLst/>
          </a:prstGeom>
          <a:solidFill>
            <a:srgbClr val="F9FCF8"/>
          </a:solidFill>
          <a:ln w="10160">
            <a:solidFill>
              <a:srgbClr val="A5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45152" y="134416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37E5A"/>
                </a:solidFill>
                <a:latin typeface="Aptos"/>
              </a:defRPr>
            </a:pPr>
            <a:r>
              <a:t>3. EVIDENCE &amp; 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1746504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Customer / Policy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96128" y="1746504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Feature &amp; context 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1728" y="2304288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Complaint Patterns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6128" y="2304288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Historical signals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2862072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Actuarial Evidence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2862072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Narrative +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81728" y="3419856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Materiality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6128" y="3419856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Business thresholds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8" y="3977639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Assumptions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8" y="3977639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Actuarial judgement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81728" y="4535424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96128" y="4535424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Review standards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81728" y="5093208"/>
            <a:ext cx="987552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12235A"/>
                </a:solidFill>
                <a:latin typeface="Aptos"/>
              </a:defRPr>
            </a:pPr>
            <a:r>
              <a:t>Historical Outcomes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96128" y="5093208"/>
            <a:ext cx="102412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90" b="0">
                <a:solidFill>
                  <a:srgbClr val="283041"/>
                </a:solidFill>
                <a:latin typeface="Aptos"/>
              </a:defRPr>
            </a:pPr>
            <a:r>
              <a:t>Interventions / findings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76872" y="1143000"/>
            <a:ext cx="2514600" cy="2148840"/>
          </a:xfrm>
          <a:prstGeom prst="roundRect">
            <a:avLst/>
          </a:prstGeom>
          <a:solidFill>
            <a:srgbClr val="F8F6FF"/>
          </a:solidFill>
          <a:ln w="10160">
            <a:solidFill>
              <a:srgbClr val="917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59752" y="1344168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32491"/>
                </a:solidFill>
                <a:latin typeface="Aptos"/>
              </a:defRPr>
            </a:pPr>
            <a:r>
              <a:t>4. AUTONOMOUS AGENTS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168896" y="1828800"/>
            <a:ext cx="213055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60336" y="1892807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12235A"/>
                </a:solidFill>
                <a:latin typeface="Aptos"/>
              </a:defRPr>
            </a:pPr>
            <a:r>
              <a:t>Future Complaints Predictor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6" y="2130552"/>
            <a:ext cx="1947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40" b="0">
                <a:solidFill>
                  <a:srgbClr val="283041"/>
                </a:solidFill>
                <a:latin typeface="Aptos"/>
              </a:defRPr>
            </a:pPr>
            <a:r>
              <a:t>Predict • Explain • Recommend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168896" y="2514600"/>
            <a:ext cx="213055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0336" y="2578608"/>
            <a:ext cx="194767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12235A"/>
                </a:solidFill>
                <a:latin typeface="Aptos"/>
              </a:defRPr>
            </a:pPr>
            <a:r>
              <a:t>Decision Assurance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0336" y="2816352"/>
            <a:ext cx="19476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40" b="0">
                <a:solidFill>
                  <a:srgbClr val="283041"/>
                </a:solidFill>
                <a:latin typeface="Aptos"/>
              </a:defRPr>
            </a:pPr>
            <a:r>
              <a:t>Reconcile • Challenge • Assure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74352" y="1143000"/>
            <a:ext cx="2194560" cy="214884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57232" y="13441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27019"/>
                </a:solidFill>
                <a:latin typeface="Aptos"/>
              </a:defRPr>
            </a:pPr>
            <a:r>
              <a:t>5. AI SERVICES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7232" y="1783080"/>
            <a:ext cx="1828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30" b="0">
                <a:solidFill>
                  <a:srgbClr val="283041"/>
                </a:solidFill>
                <a:latin typeface="Aptos"/>
              </a:defRPr>
            </a:pPr>
            <a:r>
              <a:t>Predictive models</a:t>
            </a:r>
            <a:br/>
            <a:r>
              <a:t>Propensity / trend analysis</a:t>
            </a:r>
            <a:br/>
            <a:r>
              <a:t>Explainability</a:t>
            </a:r>
            <a:br/>
            <a:r>
              <a:t>NLP / sentiment</a:t>
            </a:r>
            <a:br/>
            <a:r>
              <a:t>LLM / GenAI</a:t>
            </a:r>
            <a:br/>
            <a:r>
              <a:t>RAG &amp; evidence mapping</a:t>
            </a:r>
            <a:br/>
            <a:r>
              <a:t>Reconciliation</a:t>
            </a:r>
            <a:br/>
            <a:r>
              <a:t>Materiality scoring</a:t>
            </a:r>
            <a:br/>
            <a:r>
              <a:t>Drift / fairness monitoring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976872" y="3547872"/>
            <a:ext cx="4892040" cy="1170432"/>
          </a:xfrm>
          <a:prstGeom prst="roundRect">
            <a:avLst/>
          </a:prstGeom>
          <a:solidFill>
            <a:srgbClr val="FAFBFF"/>
          </a:solidFill>
          <a:ln w="10160">
            <a:solidFill>
              <a:srgbClr val="BE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59752" y="372160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12235A"/>
                </a:solidFill>
                <a:latin typeface="Aptos"/>
              </a:defRPr>
            </a:pPr>
            <a:r>
              <a:t>6. WORKFLOW LAYER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77072" y="368503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80" b="1">
                <a:solidFill>
                  <a:srgbClr val="532491"/>
                </a:solidFill>
                <a:latin typeface="Aptos"/>
              </a:defRPr>
            </a:pPr>
            <a:r>
              <a:t>AI / Data APIs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74352" y="368503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30" b="1">
                <a:solidFill>
                  <a:srgbClr val="2153AA"/>
                </a:solidFill>
                <a:latin typeface="Aptos"/>
              </a:defRPr>
            </a:pPr>
            <a:r>
              <a:t>Logic Apps / Business Workflow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9752" y="4050791"/>
            <a:ext cx="4526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50" b="0">
                <a:solidFill>
                  <a:srgbClr val="283041"/>
                </a:solidFill>
                <a:latin typeface="Aptos"/>
              </a:defRPr>
            </a:pPr>
            <a:r>
              <a:t>Controlled investigation cases • proactive interventions • actuarial review/sign-off • evidence-linked assurance packs • notifications and audit trails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76872" y="4983480"/>
            <a:ext cx="4892040" cy="822960"/>
          </a:xfrm>
          <a:prstGeom prst="roundRect">
            <a:avLst/>
          </a:prstGeom>
          <a:solidFill>
            <a:srgbClr val="FCF9F5"/>
          </a:solidFill>
          <a:ln w="10160">
            <a:solidFill>
              <a:srgbClr val="E1B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59752" y="515721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1">
                <a:solidFill>
                  <a:srgbClr val="D27019"/>
                </a:solidFill>
                <a:latin typeface="Aptos"/>
              </a:defRPr>
            </a:pPr>
            <a:r>
              <a:t>7. OUTCOMES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11312" y="5084064"/>
            <a:ext cx="3383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" b="0">
                <a:solidFill>
                  <a:srgbClr val="283041"/>
                </a:solidFill>
                <a:latin typeface="Aptos"/>
              </a:defRPr>
            </a:pPr>
            <a:r>
              <a:t>Complaint-risk alerts • Investigation recommendations • Intervention tracking • Actuarial review findings • Assurance packs • Governance evidence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240280" y="3474720"/>
            <a:ext cx="210312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279392" y="3474720"/>
            <a:ext cx="18288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793992" y="3474720"/>
            <a:ext cx="182880" cy="0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183879" y="3291840"/>
            <a:ext cx="0" cy="256032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829800" y="3291840"/>
            <a:ext cx="0" cy="256032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9418320" y="4718304"/>
            <a:ext cx="0" cy="265176"/>
          </a:xfrm>
          <a:prstGeom prst="line">
            <a:avLst/>
          </a:prstGeom>
          <a:ln w="15240">
            <a:solidFill>
              <a:srgbClr val="2153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Continuous loop: ingest → analyze → challenge → prioritize → governed action/review → validate → learn. Material customer and actuarial decisions remain human-accountable.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2235A"/>
                </a:solidFill>
                <a:latin typeface="Aptos"/>
              </a:defRPr>
            </a:pPr>
            <a:r>
              <a:t>Business AI Autonomous Agent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1323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C6678"/>
                </a:solidFill>
                <a:latin typeface="Aptos"/>
              </a:defRPr>
            </a:pPr>
            <a:r>
              <a:t>Two specialist agents share a governed data, AI, evidence and workflow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594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5C6678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5166360" cy="219456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2235A"/>
                </a:solidFill>
                <a:latin typeface="Aptos"/>
              </a:defRPr>
            </a:pPr>
            <a:r>
              <a:t>Future Complaints Predictor Agent for Underwriting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Predict complaint propensity across customers, policies, products and processes; explain drivers and recommend proactive investigations.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237E5A"/>
                </a:solidFill>
                <a:latin typeface="Aptos"/>
              </a:defRPr>
            </a:pPr>
            <a:r>
              <a:t>Trigger: Customer interaction / claim / underwriting / policy signals + scheduled model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1280160"/>
            <a:ext cx="5166360" cy="2194560"/>
          </a:xfrm>
          <a:prstGeom prst="roundRect">
            <a:avLst/>
          </a:prstGeom>
          <a:solidFill>
            <a:srgbClr val="FCFD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02920" cy="502920"/>
          </a:xfrm>
          <a:prstGeom prst="roundRect">
            <a:avLst/>
          </a:prstGeom>
          <a:solidFill>
            <a:srgbClr val="532491"/>
          </a:solidFill>
          <a:ln w="10160">
            <a:solidFill>
              <a:srgbClr val="532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70078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5448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2235A"/>
                </a:solidFill>
                <a:latin typeface="Aptos"/>
              </a:defRPr>
            </a:pPr>
            <a:r>
              <a:t>Decision Assurance Agent for Actuarial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148840"/>
            <a:ext cx="4526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0">
                <a:solidFill>
                  <a:srgbClr val="283041"/>
                </a:solidFill>
                <a:latin typeface="Aptos"/>
              </a:defRPr>
            </a:pPr>
            <a:r>
              <a:t>Independently reconcile actuarial narratives with claims, exposure and reserve data; challenge assumptions and produce evidence-linked review findings.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2926080"/>
            <a:ext cx="4526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237E5A"/>
                </a:solidFill>
                <a:latin typeface="Aptos"/>
              </a:defRPr>
            </a:pPr>
            <a:r>
              <a:t>Trigger: Monthly actuarial reports / material movements / data refresh + scheduled assurance reviews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9476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32491"/>
                </a:solidFill>
                <a:latin typeface="Aptos"/>
              </a:defRPr>
            </a:pPr>
            <a:r>
              <a:t>Shared Autonomous Operating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Domain data &amp;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Predict / reconcile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Explain evidence &amp; assumptions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42062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42976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42793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Risk, materiality &amp; confidence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1206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2120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Act /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1937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Governed workflow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1206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7288" y="52120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51937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Outcomes &amp; assurance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5120640"/>
            <a:ext cx="2578608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521207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0" b="1">
                <a:solidFill>
                  <a:srgbClr val="532491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519379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70" b="0">
                <a:solidFill>
                  <a:srgbClr val="283041"/>
                </a:solidFill>
                <a:latin typeface="Aptos"/>
              </a:defRPr>
            </a:pPr>
            <a:r>
              <a:t>Drift, fairness &amp; feedback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053328"/>
            <a:ext cx="11155680" cy="438912"/>
          </a:xfrm>
          <a:prstGeom prst="roundRect">
            <a:avLst/>
          </a:prstGeom>
          <a:solidFill>
            <a:srgbClr val="F7F8FC"/>
          </a:solidFill>
          <a:ln w="10160">
            <a:solidFill>
              <a:srgbClr val="CD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172200"/>
            <a:ext cx="10789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12235A"/>
                </a:solidFill>
                <a:latin typeface="Aptos"/>
              </a:defRPr>
            </a:pPr>
            <a:r>
              <a:t>Autonomy model: Low-risk analysis / recommendations → automated output  |  Medium-risk actions → governed workflow  |  Material customer or actuarial decisions → human authorization/sign-off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0">
                <a:solidFill>
                  <a:srgbClr val="5C6678"/>
                </a:solidFill>
                <a:latin typeface="Aptos"/>
              </a:defRPr>
            </a:pPr>
            <a:r>
              <a:t>Business AI Autopilot operates continuously in the background; business, actuarial and governance teams intervene where judgement, accountability or customer impact requires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0546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239</Words>
  <Application>Microsoft Office PowerPoint</Application>
  <PresentationFormat>Widescreen</PresentationFormat>
  <Paragraphs>41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Instrument Sans SemiBold</vt:lpstr>
      <vt:lpstr>Instrument Sans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Aruna Inamdar</cp:lastModifiedBy>
  <cp:revision>4</cp:revision>
  <dcterms:created xsi:type="dcterms:W3CDTF">2026-08-21T14:34:41Z</dcterms:created>
  <dcterms:modified xsi:type="dcterms:W3CDTF">2026-08-22T06:54:25Z</dcterms:modified>
</cp:coreProperties>
</file>