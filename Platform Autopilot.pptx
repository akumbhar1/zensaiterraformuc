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78" d="100"/>
          <a:sy n="78" d="100"/>
        </p:scale>
        <p:origin x="850" y="6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slide" Target="slides/slide2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8/26/2026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56032"/>
            <a:ext cx="9784080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sz="2200" b="1" dirty="0">
                <a:solidFill>
                  <a:srgbClr val="142337"/>
                </a:solidFill>
                <a:latin typeface="Aptos"/>
              </a:rPr>
              <a:t>Platform Autopilot</a:t>
            </a:r>
            <a:r>
              <a:rPr sz="2200" b="1" dirty="0">
                <a:solidFill>
                  <a:srgbClr val="142337"/>
                </a:solidFill>
                <a:latin typeface="Aptos"/>
              </a:rPr>
              <a:t>: From Manual to Autonomous Resolution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21207" y="749808"/>
            <a:ext cx="107899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64748B"/>
                </a:solidFill>
                <a:latin typeface="Aptos"/>
              </a:rPr>
              <a:t>Six AI Agents target the highest-friction operational activities across observability, lifecycle, cost, compliance and security.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097280"/>
            <a:ext cx="11183112" cy="658368"/>
          </a:xfrm>
          <a:prstGeom prst="roundRect">
            <a:avLst/>
          </a:prstGeom>
          <a:solidFill>
            <a:srgbClr val="142337"/>
          </a:solidFill>
          <a:ln w="8890">
            <a:solidFill>
              <a:srgbClr val="1423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777240" y="1197864"/>
            <a:ext cx="15087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444752"/>
            <a:ext cx="1508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>
                <a:solidFill>
                  <a:srgbClr val="CBD5E1"/>
                </a:solidFill>
                <a:latin typeface="Aptos"/>
              </a:rPr>
              <a:t>AI agents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88920" y="1197864"/>
            <a:ext cx="15087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24×7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88920" y="1444752"/>
            <a:ext cx="1508760" cy="20774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750" dirty="0">
                <a:solidFill>
                  <a:srgbClr val="CBD5E1"/>
                </a:solidFill>
                <a:latin typeface="Aptos"/>
              </a:rPr>
              <a:t>C</a:t>
            </a:r>
            <a:r>
              <a:rPr sz="750" b="0" dirty="0">
                <a:solidFill>
                  <a:srgbClr val="CBD5E1"/>
                </a:solidFill>
                <a:latin typeface="Aptos"/>
              </a:rPr>
              <a:t>ontinuous </a:t>
            </a:r>
            <a:r>
              <a:rPr lang="en-US" sz="750" dirty="0">
                <a:solidFill>
                  <a:srgbClr val="CBD5E1"/>
                </a:solidFill>
                <a:latin typeface="Aptos"/>
              </a:rPr>
              <a:t>D</a:t>
            </a:r>
            <a:r>
              <a:rPr sz="750" b="0" dirty="0">
                <a:solidFill>
                  <a:srgbClr val="CBD5E1"/>
                </a:solidFill>
                <a:latin typeface="Aptos"/>
              </a:rPr>
              <a:t>etection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983480" y="1197864"/>
            <a:ext cx="15087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983480" y="1444752"/>
            <a:ext cx="1508760" cy="20774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750" dirty="0">
                <a:solidFill>
                  <a:srgbClr val="CBD5E1"/>
                </a:solidFill>
                <a:latin typeface="Aptos"/>
              </a:rPr>
              <a:t>C</a:t>
            </a:r>
            <a:r>
              <a:rPr sz="750" b="0" dirty="0">
                <a:solidFill>
                  <a:srgbClr val="CBD5E1"/>
                </a:solidFill>
                <a:latin typeface="Aptos"/>
              </a:rPr>
              <a:t>orrelated </a:t>
            </a:r>
            <a:r>
              <a:rPr lang="en-US" sz="750" dirty="0">
                <a:solidFill>
                  <a:srgbClr val="CBD5E1"/>
                </a:solidFill>
                <a:latin typeface="Aptos"/>
              </a:rPr>
              <a:t>O</a:t>
            </a:r>
            <a:r>
              <a:rPr sz="750" b="0" dirty="0">
                <a:solidFill>
                  <a:srgbClr val="CBD5E1"/>
                </a:solidFill>
                <a:latin typeface="Aptos"/>
              </a:rPr>
              <a:t>perational </a:t>
            </a:r>
            <a:r>
              <a:rPr lang="en-US" sz="750" dirty="0">
                <a:solidFill>
                  <a:srgbClr val="CBD5E1"/>
                </a:solidFill>
                <a:latin typeface="Aptos"/>
              </a:rPr>
              <a:t>V</a:t>
            </a:r>
            <a:r>
              <a:rPr sz="750" b="0" dirty="0">
                <a:solidFill>
                  <a:srgbClr val="CBD5E1"/>
                </a:solidFill>
                <a:latin typeface="Aptos"/>
              </a:rPr>
              <a:t>iew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" y="1938528"/>
            <a:ext cx="3429000" cy="1984248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502920" y="1938528"/>
            <a:ext cx="64008" cy="1984248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Oval 16"/>
          <p:cNvSpPr/>
          <p:nvPr/>
        </p:nvSpPr>
        <p:spPr>
          <a:xfrm>
            <a:off x="667512" y="2103120"/>
            <a:ext cx="310896" cy="310896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67512" y="2125980"/>
            <a:ext cx="310896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Aptos"/>
              </a:rPr>
              <a:t>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9848" y="2075688"/>
            <a:ext cx="271576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2337"/>
                </a:solidFill>
                <a:latin typeface="Aptos"/>
              </a:rPr>
              <a:t>Observability Agent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7512" y="2523744"/>
            <a:ext cx="3099816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69" b="0">
                <a:solidFill>
                  <a:srgbClr val="1E293B"/>
                </a:solidFill>
                <a:latin typeface="Aptos"/>
              </a:rPr>
              <a:t>PAIN • Grafana, Prometheus, App Insights, Azure Monitor &amp; ServiceNow are fragmented; RCA and ticket creation are manual.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67512" y="3081528"/>
            <a:ext cx="3099816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69" b="0">
                <a:solidFill>
                  <a:srgbClr val="1E293B"/>
                </a:solidFill>
                <a:latin typeface="Aptos"/>
              </a:rPr>
              <a:t>ACHIEVE • Correlate signals + incidents, detect degradation, identify probable RCA, recommend next action and update evidence/runbooks.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7512" y="3591727"/>
            <a:ext cx="3099816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69" b="1" dirty="0">
                <a:solidFill>
                  <a:srgbClr val="2563EB"/>
                </a:solidFill>
                <a:latin typeface="Aptos"/>
              </a:rPr>
              <a:t>BENEFIT • Faster incident detection &amp; resolution; fewer handoffs; stronger operational knowledge.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087368" y="1938528"/>
            <a:ext cx="3429000" cy="1984248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ectangle 23"/>
          <p:cNvSpPr/>
          <p:nvPr/>
        </p:nvSpPr>
        <p:spPr>
          <a:xfrm>
            <a:off x="4087368" y="1938528"/>
            <a:ext cx="64008" cy="1984248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Oval 24"/>
          <p:cNvSpPr/>
          <p:nvPr/>
        </p:nvSpPr>
        <p:spPr>
          <a:xfrm>
            <a:off x="4251959" y="2103120"/>
            <a:ext cx="310896" cy="310896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4251959" y="2125980"/>
            <a:ext cx="310896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Aptos"/>
              </a:rPr>
              <a:t>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654296" y="2075688"/>
            <a:ext cx="271576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2337"/>
                </a:solidFill>
                <a:latin typeface="Aptos"/>
              </a:rPr>
              <a:t>Upgrade Advisor Agent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251959" y="2523744"/>
            <a:ext cx="3099816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69" b="0">
                <a:solidFill>
                  <a:srgbClr val="1E293B"/>
                </a:solidFill>
                <a:latin typeface="Aptos"/>
              </a:rPr>
              <a:t>PAIN • Version/dependency/deprecation checks are irregular and often triggered by audit findings.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251959" y="3081528"/>
            <a:ext cx="3099816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69" b="0">
                <a:solidFill>
                  <a:srgbClr val="1E293B"/>
                </a:solidFill>
                <a:latin typeface="Aptos"/>
              </a:rPr>
              <a:t>ACHIEVE • Continuously assess SaaS, apps, pipelines and dependencies; rank upgrade risk; generate migration + rollback runbooks.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251959" y="3611391"/>
            <a:ext cx="3099816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69" b="1" dirty="0">
                <a:solidFill>
                  <a:srgbClr val="7C3AED"/>
                </a:solidFill>
                <a:latin typeface="Aptos"/>
              </a:rPr>
              <a:t>BENEFIT • Lower technology-obsolescence risk; predictable upgrades; audit readiness.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7671816" y="1938528"/>
            <a:ext cx="3429000" cy="1984248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Rectangle 31"/>
          <p:cNvSpPr/>
          <p:nvPr/>
        </p:nvSpPr>
        <p:spPr>
          <a:xfrm>
            <a:off x="7671816" y="1938528"/>
            <a:ext cx="64008" cy="1984248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Oval 32"/>
          <p:cNvSpPr/>
          <p:nvPr/>
        </p:nvSpPr>
        <p:spPr>
          <a:xfrm>
            <a:off x="7836408" y="2103120"/>
            <a:ext cx="310896" cy="310896"/>
          </a:xfrm>
          <a:prstGeom prst="ellipse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7836408" y="2125980"/>
            <a:ext cx="310896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Aptos"/>
              </a:rPr>
              <a:t>3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238744" y="2075688"/>
            <a:ext cx="271576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2337"/>
                </a:solidFill>
                <a:latin typeface="Aptos"/>
              </a:rPr>
              <a:t>Cost Anomaly Detection Agent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836408" y="2523744"/>
            <a:ext cx="3099816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69" b="0">
                <a:solidFill>
                  <a:srgbClr val="1E293B"/>
                </a:solidFill>
                <a:latin typeface="Aptos"/>
              </a:rPr>
              <a:t>PAIN • Azure + Power BI cost data is spread across subscriptions; executive reporting and RCA are manual.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836408" y="3081528"/>
            <a:ext cx="3099816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69" b="0">
                <a:solidFill>
                  <a:srgbClr val="1E293B"/>
                </a:solidFill>
                <a:latin typeface="Aptos"/>
              </a:rPr>
              <a:t>ACHIEVE • Compare daily spend with baselines, detect anomalies, identify top drivers and trigger FinOps/Operations actions.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836408" y="3611391"/>
            <a:ext cx="3099816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69" b="1" dirty="0">
                <a:solidFill>
                  <a:srgbClr val="EA580C"/>
                </a:solidFill>
                <a:latin typeface="Aptos"/>
              </a:rPr>
              <a:t>BENEFIT • Faster cost control; less leakage; decision-ready FinOps visibility.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502920" y="4114800"/>
            <a:ext cx="3429000" cy="1984248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Rectangle 39"/>
          <p:cNvSpPr/>
          <p:nvPr/>
        </p:nvSpPr>
        <p:spPr>
          <a:xfrm>
            <a:off x="502920" y="4114800"/>
            <a:ext cx="64008" cy="1984248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Oval 40"/>
          <p:cNvSpPr/>
          <p:nvPr/>
        </p:nvSpPr>
        <p:spPr>
          <a:xfrm>
            <a:off x="667512" y="4279392"/>
            <a:ext cx="310896" cy="310896"/>
          </a:xfrm>
          <a:prstGeom prst="ellipse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667512" y="4302252"/>
            <a:ext cx="310896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Aptos"/>
              </a:rPr>
              <a:t>4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69848" y="4251960"/>
            <a:ext cx="271576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2337"/>
                </a:solidFill>
                <a:latin typeface="Aptos"/>
              </a:rPr>
              <a:t>Environment Drift Detection Agent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67512" y="4700016"/>
            <a:ext cx="3099816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69" b="0">
                <a:solidFill>
                  <a:srgbClr val="1E293B"/>
                </a:solidFill>
                <a:latin typeface="Aptos"/>
              </a:rPr>
              <a:t>PAIN • Comparing live Azure resources with approved Terraform/ARM state is tedious and reactive.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67512" y="5257800"/>
            <a:ext cx="3099816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69" b="0">
                <a:solidFill>
                  <a:srgbClr val="1E293B"/>
                </a:solidFill>
                <a:latin typeface="Aptos"/>
              </a:rPr>
              <a:t>ACHIEVE • Continuously detect unauthorized/configuration drift and recommend or initiate remediation.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67512" y="5758168"/>
            <a:ext cx="3099816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69" b="1" dirty="0">
                <a:solidFill>
                  <a:srgbClr val="0D9488"/>
                </a:solidFill>
                <a:latin typeface="Aptos"/>
              </a:rPr>
              <a:t>BENEFIT • Stronger governance, compliance and infrastructure consistency.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4087368" y="4114800"/>
            <a:ext cx="3429000" cy="1984248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Rectangle 47"/>
          <p:cNvSpPr/>
          <p:nvPr/>
        </p:nvSpPr>
        <p:spPr>
          <a:xfrm>
            <a:off x="4087368" y="4114800"/>
            <a:ext cx="64008" cy="1984248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Oval 48"/>
          <p:cNvSpPr/>
          <p:nvPr/>
        </p:nvSpPr>
        <p:spPr>
          <a:xfrm>
            <a:off x="4251959" y="4279392"/>
            <a:ext cx="310896" cy="310896"/>
          </a:xfrm>
          <a:prstGeom prst="ellipse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TextBox 49"/>
          <p:cNvSpPr txBox="1"/>
          <p:nvPr/>
        </p:nvSpPr>
        <p:spPr>
          <a:xfrm>
            <a:off x="4251959" y="4302252"/>
            <a:ext cx="310896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Aptos"/>
              </a:rPr>
              <a:t>5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654296" y="4251960"/>
            <a:ext cx="271576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2337"/>
                </a:solidFill>
                <a:latin typeface="Aptos"/>
              </a:rPr>
              <a:t>Privileged Access Risk Intelligence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51959" y="4700016"/>
            <a:ext cx="3099816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69" b="0">
                <a:solidFill>
                  <a:srgbClr val="1E293B"/>
                </a:solidFill>
                <a:latin typeface="Aptos"/>
              </a:rPr>
              <a:t>PAIN • SQL permissions, DDL activity, identities and audit findings require time-consuming manual analysis and remediation tracking.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251959" y="5257800"/>
            <a:ext cx="3099816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69" b="0">
                <a:solidFill>
                  <a:srgbClr val="1E293B"/>
                </a:solidFill>
                <a:latin typeface="Aptos"/>
              </a:rPr>
              <a:t>ACHIEVE • Baseline approved privileges, detect excessive/stale/anomalous access, correlate changes and verify remediation.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251959" y="5728665"/>
            <a:ext cx="3099816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69" b="1" dirty="0">
                <a:solidFill>
                  <a:srgbClr val="DC2626"/>
                </a:solidFill>
                <a:latin typeface="Aptos"/>
              </a:rPr>
              <a:t>BENEFIT • Reduced privileged-access exposure; faster audit closure; stronger control assurance.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7671816" y="4114800"/>
            <a:ext cx="3429000" cy="1984248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6" name="Rectangle 55"/>
          <p:cNvSpPr/>
          <p:nvPr/>
        </p:nvSpPr>
        <p:spPr>
          <a:xfrm>
            <a:off x="7671816" y="4114800"/>
            <a:ext cx="64008" cy="1984248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7" name="Oval 56"/>
          <p:cNvSpPr/>
          <p:nvPr/>
        </p:nvSpPr>
        <p:spPr>
          <a:xfrm>
            <a:off x="7836408" y="4279392"/>
            <a:ext cx="310896" cy="310896"/>
          </a:xfrm>
          <a:prstGeom prst="ellipse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8" name="TextBox 57"/>
          <p:cNvSpPr txBox="1"/>
          <p:nvPr/>
        </p:nvSpPr>
        <p:spPr>
          <a:xfrm>
            <a:off x="7836408" y="4302252"/>
            <a:ext cx="310896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Aptos"/>
              </a:rPr>
              <a:t>6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8238744" y="4251960"/>
            <a:ext cx="271576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2337"/>
                </a:solidFill>
                <a:latin typeface="Aptos"/>
              </a:rPr>
              <a:t>Vulnerability Resolution Agent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7836408" y="4700016"/>
            <a:ext cx="3099816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69" b="0">
                <a:solidFill>
                  <a:srgbClr val="1E293B"/>
                </a:solidFill>
                <a:latin typeface="Aptos"/>
              </a:rPr>
              <a:t>PAIN • Audit/pen-test findings require repeated manual RCA, scope validation, justification and remediation coordination.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7836408" y="5257800"/>
            <a:ext cx="3099816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69" b="0">
                <a:solidFill>
                  <a:srgbClr val="1E293B"/>
                </a:solidFill>
                <a:latin typeface="Aptos"/>
              </a:rPr>
              <a:t>ACHIEVE • Deduplicate findings, validate severity/scope, recommend remediation trade-offs and initiate workflow.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7836408" y="5758168"/>
            <a:ext cx="3099816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69" b="1" dirty="0">
                <a:solidFill>
                  <a:srgbClr val="16A34A"/>
                </a:solidFill>
                <a:latin typeface="Aptos"/>
              </a:rPr>
              <a:t>BENEFIT • Shorter vulnerability closure cycle; consistent remediation evidence; reduced security risk.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530352" y="6272784"/>
            <a:ext cx="87782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dirty="0">
                <a:solidFill>
                  <a:srgbClr val="64748B"/>
                </a:solidFill>
                <a:latin typeface="Aptos"/>
              </a:rPr>
              <a:t>*Indicative target metrics for business case validation; baseline should be established during pilot.</a:t>
            </a:r>
          </a:p>
        </p:txBody>
      </p:sp>
      <p:sp>
        <p:nvSpPr>
          <p:cNvPr id="64" name="TextBox 71">
            <a:extLst>
              <a:ext uri="{FF2B5EF4-FFF2-40B4-BE49-F238E27FC236}">
                <a16:creationId xmlns:a16="http://schemas.microsoft.com/office/drawing/2014/main" id="{B212A41D-7E49-9863-DB7B-4316C507B546}"/>
              </a:ext>
            </a:extLst>
          </p:cNvPr>
          <p:cNvSpPr txBox="1"/>
          <p:nvPr/>
        </p:nvSpPr>
        <p:spPr>
          <a:xfrm>
            <a:off x="7747914" y="1106135"/>
            <a:ext cx="369012" cy="461665"/>
          </a:xfrm>
          <a:prstGeom prst="rect">
            <a:avLst/>
          </a:prstGeom>
          <a:noFill/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sz="2400" b="1" dirty="0">
                <a:solidFill>
                  <a:srgbClr val="FFFFFF"/>
                </a:solidFill>
                <a:latin typeface="Aptos"/>
              </a:rPr>
              <a:t>↓</a:t>
            </a:r>
          </a:p>
        </p:txBody>
      </p:sp>
      <p:sp>
        <p:nvSpPr>
          <p:cNvPr id="65" name="TextBox 72">
            <a:extLst>
              <a:ext uri="{FF2B5EF4-FFF2-40B4-BE49-F238E27FC236}">
                <a16:creationId xmlns:a16="http://schemas.microsoft.com/office/drawing/2014/main" id="{97FF0446-A0F2-3422-A93D-692917668E6C}"/>
              </a:ext>
            </a:extLst>
          </p:cNvPr>
          <p:cNvSpPr txBox="1"/>
          <p:nvPr/>
        </p:nvSpPr>
        <p:spPr>
          <a:xfrm>
            <a:off x="7173956" y="1449913"/>
            <a:ext cx="160020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sz="750" dirty="0">
                <a:solidFill>
                  <a:srgbClr val="CBD5E1"/>
                </a:solidFill>
                <a:latin typeface="Aptos"/>
              </a:rPr>
              <a:t>Manual Effort</a:t>
            </a:r>
          </a:p>
        </p:txBody>
      </p:sp>
      <p:sp>
        <p:nvSpPr>
          <p:cNvPr id="66" name="TextBox 72">
            <a:extLst>
              <a:ext uri="{FF2B5EF4-FFF2-40B4-BE49-F238E27FC236}">
                <a16:creationId xmlns:a16="http://schemas.microsoft.com/office/drawing/2014/main" id="{44D4DFCB-D37C-7C59-0C34-B4749D1748F3}"/>
              </a:ext>
            </a:extLst>
          </p:cNvPr>
          <p:cNvSpPr txBox="1"/>
          <p:nvPr/>
        </p:nvSpPr>
        <p:spPr>
          <a:xfrm>
            <a:off x="9295386" y="1454792"/>
            <a:ext cx="1212191" cy="207749"/>
          </a:xfrm>
          <a:prstGeom prst="rect">
            <a:avLst/>
          </a:prstGeom>
          <a:noFill/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750" dirty="0">
                <a:solidFill>
                  <a:srgbClr val="CBD5E1"/>
                </a:solidFill>
                <a:latin typeface="Aptos"/>
              </a:rPr>
              <a:t>Incident Resolution Time</a:t>
            </a:r>
            <a:endParaRPr sz="750" dirty="0">
              <a:solidFill>
                <a:srgbClr val="CBD5E1"/>
              </a:solidFill>
              <a:latin typeface="Aptos"/>
            </a:endParaRPr>
          </a:p>
        </p:txBody>
      </p:sp>
      <p:sp>
        <p:nvSpPr>
          <p:cNvPr id="67" name="TextBox 71">
            <a:extLst>
              <a:ext uri="{FF2B5EF4-FFF2-40B4-BE49-F238E27FC236}">
                <a16:creationId xmlns:a16="http://schemas.microsoft.com/office/drawing/2014/main" id="{21BA9405-2AE1-B5F6-5088-43FA70055BF2}"/>
              </a:ext>
            </a:extLst>
          </p:cNvPr>
          <p:cNvSpPr txBox="1"/>
          <p:nvPr/>
        </p:nvSpPr>
        <p:spPr>
          <a:xfrm>
            <a:off x="9757968" y="1090583"/>
            <a:ext cx="369012" cy="461665"/>
          </a:xfrm>
          <a:prstGeom prst="rect">
            <a:avLst/>
          </a:prstGeom>
          <a:noFill/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sz="2400" b="1" dirty="0">
                <a:solidFill>
                  <a:srgbClr val="FFFFFF"/>
                </a:solidFill>
                <a:latin typeface="Aptos"/>
              </a:rPr>
              <a:t>↓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screenshot of a computer&#10;&#10;AI-generated content may be incorrect.">
            <a:extLst>
              <a:ext uri="{FF2B5EF4-FFF2-40B4-BE49-F238E27FC236}">
                <a16:creationId xmlns:a16="http://schemas.microsoft.com/office/drawing/2014/main" id="{0601C40C-3895-548F-4E54-A8600F53E1C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2500" y="0"/>
            <a:ext cx="10287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4375189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14</TotalTime>
  <Words>403</Words>
  <Application>Microsoft Office PowerPoint</Application>
  <PresentationFormat>Widescreen</PresentationFormat>
  <Paragraphs>43</Paragraphs>
  <Slides>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6" baseType="lpstr">
      <vt:lpstr>Aptos</vt:lpstr>
      <vt:lpstr>Arial</vt:lpstr>
      <vt:lpstr>Calibri</vt:lpstr>
      <vt:lpstr>Office Theme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Aruna Inamdar</cp:lastModifiedBy>
  <cp:revision>4</cp:revision>
  <dcterms:created xsi:type="dcterms:W3CDTF">2013-01-27T09:14:16Z</dcterms:created>
  <dcterms:modified xsi:type="dcterms:W3CDTF">2026-08-26T12:26:22Z</dcterms:modified>
  <cp:category/>
</cp:coreProperties>
</file>