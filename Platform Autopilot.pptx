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784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dirty="0">
                <a:solidFill>
                  <a:srgbClr val="142337"/>
                </a:solidFill>
                <a:latin typeface="Aptos"/>
              </a:rPr>
              <a:t>Platform Autopilot</a:t>
            </a:r>
            <a:r>
              <a:rPr sz="2200" b="1" dirty="0">
                <a:solidFill>
                  <a:srgbClr val="142337"/>
                </a:solidFill>
                <a:latin typeface="Aptos"/>
              </a:rPr>
              <a:t>: From Manual to Autonomous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Six AI Agents target the highest-friction operational activities across observability, lifecycle, cost, compliance and security.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11183112" cy="658368"/>
          </a:xfrm>
          <a:prstGeom prst="roundRect">
            <a:avLst/>
          </a:prstGeom>
          <a:solidFill>
            <a:srgbClr val="142337"/>
          </a:solidFill>
          <a:ln w="8890">
            <a:solidFill>
              <a:srgbClr val="14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19786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CBD5E1"/>
                </a:solidFill>
                <a:latin typeface="Aptos"/>
              </a:rPr>
              <a:t>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19786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24×7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44475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CBD5E1"/>
                </a:solidFill>
                <a:latin typeface="Aptos"/>
              </a:rPr>
              <a:t>continuous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19786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44475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CBD5E1"/>
                </a:solidFill>
                <a:latin typeface="Aptos"/>
              </a:rPr>
              <a:t>correlated operational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19786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40–60%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44475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CBD5E1"/>
                </a:solidFill>
                <a:latin typeface="Aptos"/>
              </a:rPr>
              <a:t>target reduction in manual analysis*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119786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20–30%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144475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CBD5E1"/>
                </a:solidFill>
                <a:latin typeface="Aptos"/>
              </a:rPr>
              <a:t>target faster resolution*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938528"/>
            <a:ext cx="3429000" cy="1984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1938528"/>
            <a:ext cx="64008" cy="1984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67512" y="2103120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" y="2125980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2075688"/>
            <a:ext cx="2715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337"/>
                </a:solidFill>
                <a:latin typeface="Aptos"/>
              </a:rPr>
              <a:t>Observability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2523744"/>
            <a:ext cx="3099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E293B"/>
                </a:solidFill>
                <a:latin typeface="Aptos"/>
              </a:rPr>
              <a:t>PAIN • Grafana, Prometheus, App Insights, Azure Monitor &amp; ServiceNow are fragmented; RCA and ticket creation are manual.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3081528"/>
            <a:ext cx="30998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E293B"/>
                </a:solidFill>
                <a:latin typeface="Aptos"/>
              </a:rPr>
              <a:t>ACHIEVE • Correlate signals + incidents, detect degradation, identify probable RCA, recommend next action and update evidence/runbooks.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3591727"/>
            <a:ext cx="3099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1" dirty="0">
                <a:solidFill>
                  <a:srgbClr val="2563EB"/>
                </a:solidFill>
                <a:latin typeface="Aptos"/>
              </a:rPr>
              <a:t>BENEFIT • Faster incident detection &amp; resolution; fewer handoffs; stronger operational knowledge.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87368" y="1938528"/>
            <a:ext cx="3429000" cy="1984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087368" y="1938528"/>
            <a:ext cx="64008" cy="19842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251959" y="210312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51959" y="2125980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4296" y="2075688"/>
            <a:ext cx="2715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337"/>
                </a:solidFill>
                <a:latin typeface="Aptos"/>
              </a:rPr>
              <a:t>Upgrade Advisor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59" y="2523744"/>
            <a:ext cx="3099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E293B"/>
                </a:solidFill>
                <a:latin typeface="Aptos"/>
              </a:rPr>
              <a:t>PAIN • Version/dependency/deprecation checks are irregular and often triggered by audit findings.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59" y="3081528"/>
            <a:ext cx="30998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E293B"/>
                </a:solidFill>
                <a:latin typeface="Aptos"/>
              </a:rPr>
              <a:t>ACHIEVE • Continuously assess SaaS, apps, pipelines and dependencies; rank upgrade risk; generate migration + rollback runbooks.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59" y="3611391"/>
            <a:ext cx="3099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1" dirty="0">
                <a:solidFill>
                  <a:srgbClr val="7C3AED"/>
                </a:solidFill>
                <a:latin typeface="Aptos"/>
              </a:rPr>
              <a:t>BENEFIT • Lower technology-obsolescence risk; predictable upgrades; audit readiness.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71816" y="1938528"/>
            <a:ext cx="3429000" cy="1984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671816" y="1938528"/>
            <a:ext cx="64008" cy="19842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836408" y="2103120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36408" y="2125980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8744" y="2075688"/>
            <a:ext cx="2715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337"/>
                </a:solidFill>
                <a:latin typeface="Aptos"/>
              </a:rPr>
              <a:t>Cost Anomaly Detection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36408" y="2523744"/>
            <a:ext cx="3099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E293B"/>
                </a:solidFill>
                <a:latin typeface="Aptos"/>
              </a:rPr>
              <a:t>PAIN • Azure + Power BI cost data is spread across subscriptions; executive reporting and RCA are manual.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36408" y="3081528"/>
            <a:ext cx="30998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E293B"/>
                </a:solidFill>
                <a:latin typeface="Aptos"/>
              </a:rPr>
              <a:t>ACHIEVE • Compare daily spend with baselines, detect anomalies, identify top drivers and trigger FinOps/Operations actions.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36408" y="3611391"/>
            <a:ext cx="3099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1" dirty="0">
                <a:solidFill>
                  <a:srgbClr val="EA580C"/>
                </a:solidFill>
                <a:latin typeface="Aptos"/>
              </a:rPr>
              <a:t>BENEFIT • Faster cost control; less leakage; decision-ready FinOps visibility.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114800"/>
            <a:ext cx="3429000" cy="1984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02920" y="4114800"/>
            <a:ext cx="64008" cy="19842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67512" y="4279392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7512" y="4302252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" y="4251960"/>
            <a:ext cx="2715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337"/>
                </a:solidFill>
                <a:latin typeface="Aptos"/>
              </a:rPr>
              <a:t>Environment Drift Detection 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" y="4700016"/>
            <a:ext cx="3099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E293B"/>
                </a:solidFill>
                <a:latin typeface="Aptos"/>
              </a:rPr>
              <a:t>PAIN • Comparing live Azure resources with approved Terraform/ARM state is tedious and reactive.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" y="5257800"/>
            <a:ext cx="30998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E293B"/>
                </a:solidFill>
                <a:latin typeface="Aptos"/>
              </a:rPr>
              <a:t>ACHIEVE • Continuously detect unauthorized/configuration drift and recommend or initiate remediation.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" y="5758168"/>
            <a:ext cx="3099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1" dirty="0">
                <a:solidFill>
                  <a:srgbClr val="0D9488"/>
                </a:solidFill>
                <a:latin typeface="Aptos"/>
              </a:rPr>
              <a:t>BENEFIT • Stronger governance, compliance and infrastructure consistency.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087368" y="4114800"/>
            <a:ext cx="3429000" cy="1984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087368" y="4114800"/>
            <a:ext cx="64008" cy="19842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251959" y="4279392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251959" y="4302252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54296" y="4251960"/>
            <a:ext cx="2715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337"/>
                </a:solidFill>
                <a:latin typeface="Aptos"/>
              </a:rPr>
              <a:t>Privileged Access Risk Intelligence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51959" y="4700016"/>
            <a:ext cx="3099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E293B"/>
                </a:solidFill>
                <a:latin typeface="Aptos"/>
              </a:rPr>
              <a:t>PAIN • SQL permissions, DDL activity, identities and audit findings require time-consuming manual analysis and remediation tracking.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51959" y="5257800"/>
            <a:ext cx="30998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E293B"/>
                </a:solidFill>
                <a:latin typeface="Aptos"/>
              </a:rPr>
              <a:t>ACHIEVE • Baseline approved privileges, detect excessive/stale/anomalous access, correlate changes and verify remediation.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51959" y="5728665"/>
            <a:ext cx="3099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1" dirty="0">
                <a:solidFill>
                  <a:srgbClr val="DC2626"/>
                </a:solidFill>
                <a:latin typeface="Aptos"/>
              </a:rPr>
              <a:t>BENEFIT • Reduced privileged-access exposure; faster audit closure; stronger control assurance.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71816" y="4114800"/>
            <a:ext cx="3429000" cy="1984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671816" y="4114800"/>
            <a:ext cx="64008" cy="19842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7836408" y="4279392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836408" y="4302252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38744" y="4251960"/>
            <a:ext cx="2715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337"/>
                </a:solidFill>
                <a:latin typeface="Aptos"/>
              </a:rPr>
              <a:t>Vulnerability Resolution Agent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36408" y="4700016"/>
            <a:ext cx="3099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E293B"/>
                </a:solidFill>
                <a:latin typeface="Aptos"/>
              </a:rPr>
              <a:t>PAIN • Audit/pen-test findings require repeated manual RCA, scope validation, justification and remediation coordination.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36408" y="5257800"/>
            <a:ext cx="30998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E293B"/>
                </a:solidFill>
                <a:latin typeface="Aptos"/>
              </a:rPr>
              <a:t>ACHIEVE • Deduplicate findings, validate severity/scope, recommend remediation trade-offs and initiate workflow.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36408" y="5758168"/>
            <a:ext cx="3099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1" dirty="0">
                <a:solidFill>
                  <a:srgbClr val="16A34A"/>
                </a:solidFill>
                <a:latin typeface="Aptos"/>
              </a:rPr>
              <a:t>BENEFIT • Shorter vulnerability closure cycle; consistent remediation evidence; reduced security risk.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352" y="6272784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dirty="0">
                <a:solidFill>
                  <a:srgbClr val="64748B"/>
                </a:solidFill>
                <a:latin typeface="Aptos"/>
              </a:rPr>
              <a:t>*Indicative target metrics for business case validation; baseline should be established during pilot.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01C40C-3895-548F-4E54-A8600F53E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751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405</Words>
  <Application>Microsoft Office PowerPoint</Application>
  <PresentationFormat>Widescreen</PresentationFormat>
  <Paragraphs>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Aruna Inamdar</cp:lastModifiedBy>
  <cp:revision>2</cp:revision>
  <dcterms:created xsi:type="dcterms:W3CDTF">2013-01-27T09:14:16Z</dcterms:created>
  <dcterms:modified xsi:type="dcterms:W3CDTF">2026-08-26T12:04:05Z</dcterms:modified>
  <cp:category/>
</cp:coreProperties>
</file>