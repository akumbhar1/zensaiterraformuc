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61" r:id="rId2"/>
    <p:sldId id="262" r:id="rId3"/>
    <p:sldId id="263" r:id="rId4"/>
    <p:sldId id="258" r:id="rId5"/>
    <p:sldId id="259" r:id="rId6"/>
    <p:sldId id="260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3643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42416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2235A"/>
                </a:solidFill>
                <a:latin typeface="Aptos"/>
              </a:defRPr>
            </a:pPr>
            <a:r>
              <a:rPr lang="en-IN" dirty="0"/>
              <a:t>Platform</a:t>
            </a:r>
            <a:r>
              <a:rPr dirty="0"/>
              <a:t> Autopilot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13232"/>
            <a:ext cx="106984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C6678"/>
                </a:solidFill>
                <a:latin typeface="Aptos"/>
              </a:defRPr>
            </a:pPr>
            <a:r>
              <a:rPr dirty="0"/>
              <a:t>Autonomous </a:t>
            </a:r>
            <a:r>
              <a:rPr lang="en-IN" dirty="0"/>
              <a:t>Platform</a:t>
            </a:r>
            <a:r>
              <a:rPr dirty="0"/>
              <a:t> intelligence for continuous monitoring, decision support and governed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5C6678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4800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32491"/>
                </a:solidFill>
                <a:latin typeface="Aptos"/>
              </a:defRPr>
            </a:pPr>
            <a:r>
              <a:t>Platform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44752"/>
            <a:ext cx="4754880" cy="658368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545336"/>
            <a:ext cx="1600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2235A"/>
                </a:solidFill>
                <a:latin typeface="Aptos"/>
              </a:defRPr>
            </a:pPr>
            <a:r>
              <a:t>DevOps Control Center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527048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10" b="0">
                <a:solidFill>
                  <a:srgbClr val="283041"/>
                </a:solidFill>
                <a:latin typeface="Aptos"/>
              </a:defRPr>
            </a:pPr>
            <a:r>
              <a:t>Unified executive and developer experience for service health, pipeline health, security, risks, cost and change.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267712"/>
            <a:ext cx="4754880" cy="658368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368296"/>
            <a:ext cx="1600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2235A"/>
                </a:solidFill>
                <a:latin typeface="Aptos"/>
              </a:defRPr>
            </a:pPr>
            <a:r>
              <a:t>Autonomous Agent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350008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10" b="0">
                <a:solidFill>
                  <a:srgbClr val="283041"/>
                </a:solidFill>
                <a:latin typeface="Aptos"/>
              </a:defRPr>
            </a:pPr>
            <a:r>
              <a:t>6 specialist agents continuously monitor delivery, infrastructure and engineering signals and operate without user initiation.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090672"/>
            <a:ext cx="4754880" cy="658368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3191256"/>
            <a:ext cx="1600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2235A"/>
                </a:solidFill>
                <a:latin typeface="Aptos"/>
              </a:defRPr>
            </a:pPr>
            <a:r>
              <a:t>MCP Tool &amp; Context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3172968"/>
            <a:ext cx="2788920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10" b="0">
                <a:solidFill>
                  <a:srgbClr val="283041"/>
                </a:solidFill>
                <a:latin typeface="Aptos"/>
              </a:defRPr>
            </a:pPr>
            <a:r>
              <a:rPr dirty="0"/>
              <a:t>Standardized access to Azure DevOps, Terraform, Grafana, Azure Monitor, CMDB and other tools.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913632"/>
            <a:ext cx="4754880" cy="658368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4014216"/>
            <a:ext cx="1600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2235A"/>
                </a:solidFill>
                <a:latin typeface="Aptos"/>
              </a:defRPr>
            </a:pPr>
            <a:r>
              <a:t>Logic Apps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3995928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10" b="0">
                <a:solidFill>
                  <a:srgbClr val="283041"/>
                </a:solidFill>
                <a:latin typeface="Aptos"/>
              </a:defRPr>
            </a:pPr>
            <a:r>
              <a:t>Executes approved workflows with policy checks, business rules, retries, notifications and human approval gates.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23560" y="1024128"/>
            <a:ext cx="5989320" cy="3611880"/>
          </a:xfrm>
          <a:prstGeom prst="roundRect">
            <a:avLst/>
          </a:prstGeom>
          <a:solidFill>
            <a:srgbClr val="FAFBFF"/>
          </a:solidFill>
          <a:ln w="10160">
            <a:solidFill>
              <a:srgbClr val="BEC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70448" y="1243584"/>
            <a:ext cx="54406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532491"/>
                </a:solidFill>
                <a:latin typeface="Aptos"/>
              </a:defRPr>
            </a:pPr>
            <a:r>
              <a:rPr dirty="0"/>
              <a:t>Continuous </a:t>
            </a:r>
            <a:r>
              <a:rPr lang="en-IN" dirty="0"/>
              <a:t>Platform</a:t>
            </a:r>
            <a:r>
              <a:rPr dirty="0"/>
              <a:t> Workflow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97880" y="1664208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07608" y="1773936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1737360"/>
            <a:ext cx="1783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Sense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6792" y="1975104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Collect pipeline events, telemetry, changes and enterprise context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59368" y="1664208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69096" y="1773936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1737360"/>
            <a:ext cx="1783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Understand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1975104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Classify failures, anomalies, risks, dependencies and intent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97880" y="2560320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07608" y="267004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2" y="2633472"/>
            <a:ext cx="1783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Correlate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2871215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Combine evidence across agents, applications and systems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59368" y="2560320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769096" y="267004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2633472"/>
            <a:ext cx="1783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2871215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Apply policy, risk and business impact to determine action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97880" y="3456432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07608" y="356616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36792" y="3529584"/>
            <a:ext cx="1783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Act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36792" y="3767328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Recommend, create tickets or execute approved remediation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59368" y="3456432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769096" y="356616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98280" y="3529584"/>
            <a:ext cx="1783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Learn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98280" y="3767328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Measure outcomes and improve recommendations continuously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48920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32491"/>
                </a:solidFill>
                <a:latin typeface="Aptos"/>
              </a:defRPr>
            </a:pPr>
            <a:r>
              <a:t>Business Outcomes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5285232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↓ Deployment Risk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39112" y="528523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Reduced failure rate and shorter lead time to production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25112" y="5285232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↓ MTTD / MTTR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69864" y="528523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Faster detection, resolution and reduced operational exposure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55864" y="5285232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↑ Engineer Velocity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0616" y="528523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Time returned to value creation and improved upgrade readiness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5852160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↑ Governance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39112" y="585216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Policy enforcement, auditability and fewer manual approval gaps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25112" y="5852160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↓ Manual Work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69864" y="585216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Automated triage, reporting and routine remediation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55864" y="5852160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↑ Visibility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00616" y="585216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Unified context across pipelines, systems and teams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4360" y="6547104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5C6678"/>
                </a:solidFill>
                <a:latin typeface="Aptos"/>
              </a:defRPr>
            </a:pPr>
            <a:r>
              <a:t>DevOps principle: continuously sense → understand → correlate → decide → act → learn, with human approval where risk requires 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972800" y="27432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5C6678"/>
                </a:solidFill>
                <a:latin typeface="Aptos"/>
              </a:defRPr>
            </a:pPr>
            <a:r>
              <a:t>2</a:t>
            </a:r>
          </a:p>
        </p:txBody>
      </p:sp>
      <p:pic>
        <p:nvPicPr>
          <p:cNvPr id="8" name="Picture 7" descr="A diagram of a website&#10;&#10;AI-generated content may be incorrect.">
            <a:extLst>
              <a:ext uri="{FF2B5EF4-FFF2-40B4-BE49-F238E27FC236}">
                <a16:creationId xmlns:a16="http://schemas.microsoft.com/office/drawing/2014/main" id="{84C2828A-C188-B9D4-BBF0-83DF029BB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014" y="0"/>
            <a:ext cx="10259786" cy="683985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42416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2235A"/>
                </a:solidFill>
                <a:latin typeface="Aptos"/>
              </a:defRPr>
            </a:pPr>
            <a:r>
              <a:rPr lang="en-IN" dirty="0"/>
              <a:t>Platform</a:t>
            </a:r>
            <a:r>
              <a:rPr dirty="0"/>
              <a:t> Autonomous Agent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1323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C6678"/>
                </a:solidFill>
                <a:latin typeface="Aptos"/>
              </a:defRPr>
            </a:pPr>
            <a:r>
              <a:t>Six specialist agents share the same control plane, MCP tools, enterprise context and governed workflow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5C6678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3639312" cy="1353312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2648" y="1252728"/>
            <a:ext cx="347472" cy="347472"/>
          </a:xfrm>
          <a:prstGeom prst="roundRect">
            <a:avLst/>
          </a:prstGeom>
          <a:solidFill>
            <a:srgbClr val="532491"/>
          </a:solidFill>
          <a:ln w="10160">
            <a:solidFill>
              <a:srgbClr val="532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2648" y="127101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1252728"/>
            <a:ext cx="2880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2235A"/>
                </a:solidFill>
                <a:latin typeface="Aptos"/>
              </a:defRPr>
            </a:pPr>
            <a:r>
              <a:t>Pipeline Intelligence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73352"/>
            <a:ext cx="3246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35" b="0">
                <a:solidFill>
                  <a:srgbClr val="283041"/>
                </a:solidFill>
                <a:latin typeface="Aptos"/>
              </a:defRPr>
            </a:pPr>
            <a:r>
              <a:t>Predict pipeline/build/deployment failures and recommend delivery optimizations.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76272"/>
            <a:ext cx="3246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80" b="1">
                <a:solidFill>
                  <a:srgbClr val="237E5A"/>
                </a:solidFill>
                <a:latin typeface="Aptos"/>
              </a:defRPr>
            </a:pPr>
            <a:r>
              <a:t>Trigger: Pipeline / release events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143000"/>
            <a:ext cx="3639312" cy="1353312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480560" y="1252728"/>
            <a:ext cx="347472" cy="347472"/>
          </a:xfrm>
          <a:prstGeom prst="roundRect">
            <a:avLst/>
          </a:prstGeom>
          <a:solidFill>
            <a:srgbClr val="532491"/>
          </a:solidFill>
          <a:ln w="10160">
            <a:solidFill>
              <a:srgbClr val="532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60" y="127101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1252728"/>
            <a:ext cx="2880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2235A"/>
                </a:solidFill>
                <a:latin typeface="Aptos"/>
              </a:defRPr>
            </a:pPr>
            <a:r>
              <a:rPr dirty="0"/>
              <a:t>DevOps Governance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1673352"/>
            <a:ext cx="3246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35" b="0">
                <a:solidFill>
                  <a:srgbClr val="283041"/>
                </a:solidFill>
                <a:latin typeface="Aptos"/>
              </a:defRPr>
            </a:pPr>
            <a:r>
              <a:t>Continuously assess policy, access, security, audit and configuration risk.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176272"/>
            <a:ext cx="3246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80" b="1">
                <a:solidFill>
                  <a:srgbClr val="237E5A"/>
                </a:solidFill>
                <a:latin typeface="Aptos"/>
              </a:defRPr>
            </a:pPr>
            <a:r>
              <a:t>Trigger: Policy / access / audit events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38744" y="1143000"/>
            <a:ext cx="3639312" cy="1353312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348472" y="1252728"/>
            <a:ext cx="347472" cy="347472"/>
          </a:xfrm>
          <a:prstGeom prst="roundRect">
            <a:avLst/>
          </a:prstGeom>
          <a:solidFill>
            <a:srgbClr val="532491"/>
          </a:solidFill>
          <a:ln w="10160">
            <a:solidFill>
              <a:srgbClr val="532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48472" y="127101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05672" y="1252728"/>
            <a:ext cx="2880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2235A"/>
                </a:solidFill>
                <a:latin typeface="Aptos"/>
              </a:defRPr>
            </a:pPr>
            <a:r>
              <a:t>Observability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21624" y="1673352"/>
            <a:ext cx="3246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35" b="0">
                <a:solidFill>
                  <a:srgbClr val="283041"/>
                </a:solidFill>
                <a:latin typeface="Aptos"/>
              </a:defRPr>
            </a:pPr>
            <a:r>
              <a:t>Correlate metrics, logs and traces to detect anomalies and accelerate root-cause analysis.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1624" y="2176272"/>
            <a:ext cx="3246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80" b="1">
                <a:solidFill>
                  <a:srgbClr val="237E5A"/>
                </a:solidFill>
                <a:latin typeface="Aptos"/>
              </a:defRPr>
            </a:pPr>
            <a:r>
              <a:t>Trigger: Monitoring / telemetry events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2743200"/>
            <a:ext cx="3639312" cy="1353312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12648" y="2852928"/>
            <a:ext cx="347472" cy="347472"/>
          </a:xfrm>
          <a:prstGeom prst="roundRect">
            <a:avLst/>
          </a:prstGeom>
          <a:solidFill>
            <a:srgbClr val="532491"/>
          </a:solidFill>
          <a:ln w="10160">
            <a:solidFill>
              <a:srgbClr val="532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2648" y="287121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" y="2852928"/>
            <a:ext cx="2880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2235A"/>
                </a:solidFill>
                <a:latin typeface="Aptos"/>
              </a:defRPr>
            </a:pPr>
            <a:r>
              <a:t>Rollback &amp; Recovery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273552"/>
            <a:ext cx="3246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35" b="0">
                <a:solidFill>
                  <a:srgbClr val="283041"/>
                </a:solidFill>
                <a:latin typeface="Aptos"/>
              </a:defRPr>
            </a:pPr>
            <a:r>
              <a:t>Assess rollback strategies, validate safe recovery windows and guide or automate recovery.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776472"/>
            <a:ext cx="3246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80" b="1">
                <a:solidFill>
                  <a:srgbClr val="237E5A"/>
                </a:solidFill>
                <a:latin typeface="Aptos"/>
              </a:defRPr>
            </a:pPr>
            <a:r>
              <a:t>Trigger: Deployment / health events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70832" y="2743200"/>
            <a:ext cx="3639312" cy="1353312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480560" y="2852928"/>
            <a:ext cx="347472" cy="347472"/>
          </a:xfrm>
          <a:prstGeom prst="roundRect">
            <a:avLst/>
          </a:prstGeom>
          <a:solidFill>
            <a:srgbClr val="532491"/>
          </a:solidFill>
          <a:ln w="10160">
            <a:solidFill>
              <a:srgbClr val="532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80560" y="287121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2852928"/>
            <a:ext cx="2880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2235A"/>
                </a:solidFill>
                <a:latin typeface="Aptos"/>
              </a:defRPr>
            </a:pPr>
            <a:r>
              <a:t>Upgrade Advisor 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53712" y="3273552"/>
            <a:ext cx="3246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35" b="0">
                <a:solidFill>
                  <a:srgbClr val="283041"/>
                </a:solidFill>
                <a:latin typeface="Aptos"/>
              </a:defRPr>
            </a:pPr>
            <a:r>
              <a:t>Analyze dependencies, versions and vulnerabilities and recommend upgrade paths.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3776472"/>
            <a:ext cx="3246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80" b="1">
                <a:solidFill>
                  <a:srgbClr val="237E5A"/>
                </a:solidFill>
                <a:latin typeface="Aptos"/>
              </a:defRPr>
            </a:pPr>
            <a:r>
              <a:t>Trigger: Version / dependency changes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38744" y="2743200"/>
            <a:ext cx="3639312" cy="1353312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8348472" y="2852928"/>
            <a:ext cx="347472" cy="347472"/>
          </a:xfrm>
          <a:prstGeom prst="roundRect">
            <a:avLst/>
          </a:prstGeom>
          <a:solidFill>
            <a:srgbClr val="532491"/>
          </a:solidFill>
          <a:ln w="10160">
            <a:solidFill>
              <a:srgbClr val="532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48472" y="287121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05672" y="2852928"/>
            <a:ext cx="2880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2235A"/>
                </a:solidFill>
                <a:latin typeface="Aptos"/>
              </a:defRPr>
            </a:pPr>
            <a:r>
              <a:t>Knowledge Assistant Agent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21624" y="3273552"/>
            <a:ext cx="3246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35" b="0">
                <a:solidFill>
                  <a:srgbClr val="283041"/>
                </a:solidFill>
                <a:latin typeface="Aptos"/>
              </a:defRPr>
            </a:pPr>
            <a:r>
              <a:t>Continuously learn from enterprise documentation, runbooks and historical data and provide grounded guidance.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21624" y="3776472"/>
            <a:ext cx="3246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80" b="1">
                <a:solidFill>
                  <a:srgbClr val="237E5A"/>
                </a:solidFill>
                <a:latin typeface="Aptos"/>
              </a:defRPr>
            </a:pPr>
            <a:r>
              <a:t>Trigger: Knowledge refresh + user query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4416552"/>
            <a:ext cx="11155680" cy="960120"/>
          </a:xfrm>
          <a:prstGeom prst="roundRect">
            <a:avLst/>
          </a:prstGeom>
          <a:solidFill>
            <a:srgbClr val="F7F8FC"/>
          </a:solidFill>
          <a:ln w="10160">
            <a:solidFill>
              <a:srgbClr val="CD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13232" y="459028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1">
                <a:solidFill>
                  <a:srgbClr val="532491"/>
                </a:solidFill>
                <a:latin typeface="Aptos"/>
              </a:defRPr>
            </a:pPr>
            <a:r>
              <a:t>Operating Model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40280" y="4535424"/>
            <a:ext cx="9006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40" b="1">
                <a:solidFill>
                  <a:srgbClr val="12235A"/>
                </a:solidFill>
                <a:latin typeface="Aptos"/>
              </a:defRPr>
            </a:pPr>
            <a:r>
              <a:t>Observe → Recommend → Automate  |  Low risk: auto-execute  |  Medium risk: approval workflow  |  High risk: recommendation only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" y="4983480"/>
            <a:ext cx="10561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40" b="0">
                <a:solidFill>
                  <a:srgbClr val="283041"/>
                </a:solidFill>
                <a:latin typeface="Aptos"/>
              </a:defRPr>
            </a:pPr>
            <a:r>
              <a:t>Shared capabilities: Agent Registry • Routing &amp; Context • Policy &amp; Guardrails • Security &amp; Identity • Audit &amp; Compliance • Observability • Cost &amp; Token Management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6547104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5C6678"/>
                </a:solidFill>
                <a:latin typeface="Aptos"/>
              </a:defRPr>
            </a:pPr>
            <a:r>
              <a:t>The Knowledge Assistant remains user-facing when needed; the other agents are designed to continuously monitor and act in the background.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424160" cy="4462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12235A"/>
                </a:solidFill>
                <a:latin typeface="Aptos"/>
              </a:defRPr>
            </a:pPr>
            <a:r>
              <a:rPr dirty="0"/>
              <a:t>FinOps</a:t>
            </a:r>
            <a:r>
              <a:rPr lang="en-IN" dirty="0"/>
              <a:t> Autopilot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85216" y="713232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C6678"/>
                </a:solidFill>
                <a:latin typeface="Aptos"/>
              </a:defRPr>
            </a:pPr>
            <a:r>
              <a:t>A proactive, autonomous multi-agent platform for continuous cost intelligence, optimization, forecasting and governed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594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1">
                <a:solidFill>
                  <a:srgbClr val="5C6678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4800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532491"/>
                </a:solidFill>
                <a:latin typeface="Aptos"/>
              </a:defRPr>
            </a:pPr>
            <a:r>
              <a:rPr dirty="0"/>
              <a:t>Platform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44752"/>
            <a:ext cx="4754880" cy="658368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545336"/>
            <a:ext cx="16002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2235A"/>
                </a:solidFill>
                <a:latin typeface="Aptos"/>
              </a:defRPr>
            </a:pPr>
            <a:r>
              <a:t>FinOps Control Center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527048"/>
            <a:ext cx="2788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30" b="0">
                <a:solidFill>
                  <a:srgbClr val="283041"/>
                </a:solidFill>
                <a:latin typeface="Aptos"/>
              </a:defRPr>
            </a:pPr>
            <a:r>
              <a:t>Unified executive experience for cost, savings, forecasts, risks and actions.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267712"/>
            <a:ext cx="4754880" cy="658368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368296"/>
            <a:ext cx="16002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2235A"/>
                </a:solidFill>
                <a:latin typeface="Aptos"/>
              </a:defRPr>
            </a:pPr>
            <a:r>
              <a:t>Autonomous Agent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350008"/>
            <a:ext cx="2788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30" b="0">
                <a:solidFill>
                  <a:srgbClr val="283041"/>
                </a:solidFill>
                <a:latin typeface="Aptos"/>
              </a:defRPr>
            </a:pPr>
            <a:r>
              <a:t>9 specialist agents continuously monitor systems and run from events or schedules — no user action required.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090672"/>
            <a:ext cx="4754880" cy="658368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3191256"/>
            <a:ext cx="16002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2235A"/>
                </a:solidFill>
                <a:latin typeface="Aptos"/>
              </a:defRPr>
            </a:pPr>
            <a:r>
              <a:t>MCP Tool &amp; Context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3172968"/>
            <a:ext cx="2788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30" b="0">
                <a:solidFill>
                  <a:srgbClr val="283041"/>
                </a:solidFill>
                <a:latin typeface="Aptos"/>
              </a:defRPr>
            </a:pPr>
            <a:r>
              <a:t>Standardized, governed access to Azure, Fabric, Power BI, ServiceNow, SaaS and FinOps tools.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913632"/>
            <a:ext cx="4754880" cy="658368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4014216"/>
            <a:ext cx="16002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2235A"/>
                </a:solidFill>
                <a:latin typeface="Aptos"/>
              </a:defRPr>
            </a:pPr>
            <a:r>
              <a:t>Logic Apps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3995928"/>
            <a:ext cx="2788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30" b="0">
                <a:solidFill>
                  <a:srgbClr val="283041"/>
                </a:solidFill>
                <a:latin typeface="Aptos"/>
              </a:defRPr>
            </a:pPr>
            <a:r>
              <a:t>Executes governed workflows with policy checks, approvals, retries, notifications and enterprise integrations.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23560" y="1024128"/>
            <a:ext cx="5989320" cy="3611880"/>
          </a:xfrm>
          <a:prstGeom prst="roundRect">
            <a:avLst/>
          </a:prstGeom>
          <a:solidFill>
            <a:srgbClr val="FAFBFF"/>
          </a:solidFill>
          <a:ln w="10160">
            <a:solidFill>
              <a:srgbClr val="BEC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70448" y="1243584"/>
            <a:ext cx="5440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532491"/>
                </a:solidFill>
                <a:latin typeface="Aptos"/>
              </a:defRPr>
            </a:pPr>
            <a:r>
              <a:t>Continuous FinOps Workflow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97880" y="1664208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07608" y="1773936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1737360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Sense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6792" y="1975104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Collect costs, usage, changes, budgets &amp; operational events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59368" y="1664208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69096" y="1773936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1737360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1975104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Detect anomalies, forecast, optimize &amp; score risk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97880" y="2560320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07608" y="2670048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2" y="2633472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Correlate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2871215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Combine evidence across resources, owners and business context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59368" y="2560320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769096" y="2670048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2633472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2871215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Apply policy, risk and business-impact guardrails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97880" y="3456432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07608" y="3566160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36792" y="3529584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Act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36792" y="3767328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Recommend, create tickets or execute approved actions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59368" y="3456432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769096" y="3566160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98280" y="3529584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Learn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98280" y="3767328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Measure outcomes and feed results back into the platform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489204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532491"/>
                </a:solidFill>
                <a:latin typeface="Aptos"/>
              </a:defRPr>
            </a:pPr>
            <a:r>
              <a:t>Business Outcomes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5285232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↓ Cost Leakage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39112" y="528523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30" b="0">
                <a:solidFill>
                  <a:srgbClr val="283041"/>
                </a:solidFill>
                <a:latin typeface="Aptos"/>
              </a:defRPr>
            </a:pPr>
            <a:r>
              <a:t>Earlier anomaly detection and faster containment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25112" y="5285232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↓ Cloud Run-Rate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69864" y="528523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30" b="0">
                <a:solidFill>
                  <a:srgbClr val="283041"/>
                </a:solidFill>
                <a:latin typeface="Aptos"/>
              </a:defRPr>
            </a:pPr>
            <a:r>
              <a:t>Rightsizing, lifecycle and capacity optimization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55864" y="5285232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↑ Forecast Accuracy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0616" y="528523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30" b="0">
                <a:solidFill>
                  <a:srgbClr val="283041"/>
                </a:solidFill>
                <a:latin typeface="Aptos"/>
              </a:defRPr>
            </a:pPr>
            <a:r>
              <a:t>Proactive budget and spend risk management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5852160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↑ Governance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39112" y="585216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30" b="0">
                <a:solidFill>
                  <a:srgbClr val="283041"/>
                </a:solidFill>
                <a:latin typeface="Aptos"/>
              </a:defRPr>
            </a:pPr>
            <a:r>
              <a:t>Continuous policy, drift and compliance visibility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25112" y="5852160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↓ Manual Work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69864" y="585216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30" b="0">
                <a:solidFill>
                  <a:srgbClr val="283041"/>
                </a:solidFill>
                <a:latin typeface="Aptos"/>
              </a:defRPr>
            </a:pPr>
            <a:r>
              <a:t>Automated reporting, tickets and routine actions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55864" y="5852160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↑ Visibility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00616" y="585216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30" b="0">
                <a:solidFill>
                  <a:srgbClr val="283041"/>
                </a:solidFill>
                <a:latin typeface="Aptos"/>
              </a:defRPr>
            </a:pPr>
            <a:r>
              <a:t>Unified FinOps context across technology and business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4360" y="6547104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5C6678"/>
                </a:solidFill>
                <a:latin typeface="Aptos"/>
              </a:defRPr>
            </a:pPr>
            <a:r>
              <a:t>FinOps principle: continuously observe → analyze → decide → act → learn, with human approval only where risk requires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972800" y="274320"/>
            <a:ext cx="594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1">
                <a:solidFill>
                  <a:srgbClr val="5C6678"/>
                </a:solidFill>
                <a:latin typeface="Aptos"/>
              </a:defRPr>
            </a:pPr>
            <a:r>
              <a:t>4</a:t>
            </a:r>
          </a:p>
        </p:txBody>
      </p:sp>
      <p:pic>
        <p:nvPicPr>
          <p:cNvPr id="8" name="Picture 7" descr="A diagram of a computer&#10;&#10;AI-generated content may be incorrect.">
            <a:extLst>
              <a:ext uri="{FF2B5EF4-FFF2-40B4-BE49-F238E27FC236}">
                <a16:creationId xmlns:a16="http://schemas.microsoft.com/office/drawing/2014/main" id="{583063C4-68E7-342B-5584-DB5B4E180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12235A"/>
                </a:solidFill>
                <a:latin typeface="Aptos"/>
              </a:defRPr>
            </a:pPr>
            <a:r>
              <a:t>FinOps Autonomous Agent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13232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C6678"/>
                </a:solidFill>
                <a:latin typeface="Aptos"/>
              </a:defRPr>
            </a:pPr>
            <a:r>
              <a:t>Nine specialist agents share the same data, intelligence, tool and workflow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594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1">
                <a:solidFill>
                  <a:srgbClr val="5C6678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3639312" cy="1353312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2648" y="1252728"/>
            <a:ext cx="347472" cy="347472"/>
          </a:xfrm>
          <a:prstGeom prst="roundRect">
            <a:avLst/>
          </a:prstGeom>
          <a:solidFill>
            <a:srgbClr val="532491"/>
          </a:solidFill>
          <a:ln w="10160">
            <a:solidFill>
              <a:srgbClr val="532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2648" y="1271016"/>
            <a:ext cx="34747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1252728"/>
            <a:ext cx="2880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Cost Anomaly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73352"/>
            <a:ext cx="324612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283041"/>
                </a:solidFill>
                <a:latin typeface="Aptos"/>
              </a:defRPr>
            </a:pPr>
            <a:r>
              <a:t>Detect unusual spend and explain drivers before overspend becomes material.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76272"/>
            <a:ext cx="3246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90" b="1">
                <a:solidFill>
                  <a:srgbClr val="237E5A"/>
                </a:solidFill>
                <a:latin typeface="Aptos"/>
              </a:defRPr>
            </a:pPr>
            <a:r>
              <a:t>Trigger: Event + near-real-time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143000"/>
            <a:ext cx="3639312" cy="1353312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480560" y="1252728"/>
            <a:ext cx="347472" cy="347472"/>
          </a:xfrm>
          <a:prstGeom prst="roundRect">
            <a:avLst/>
          </a:prstGeom>
          <a:solidFill>
            <a:srgbClr val="532491"/>
          </a:solidFill>
          <a:ln w="10160">
            <a:solidFill>
              <a:srgbClr val="532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60" y="1271016"/>
            <a:ext cx="34747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1252728"/>
            <a:ext cx="2880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Cost Optimization Advisor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1673352"/>
            <a:ext cx="324612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283041"/>
                </a:solidFill>
                <a:latin typeface="Aptos"/>
              </a:defRPr>
            </a:pPr>
            <a:r>
              <a:t>Identify idle/oversized resources and prioritize savings opportunities.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176272"/>
            <a:ext cx="3246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90" b="1">
                <a:solidFill>
                  <a:srgbClr val="237E5A"/>
                </a:solidFill>
                <a:latin typeface="Aptos"/>
              </a:defRPr>
            </a:pPr>
            <a:r>
              <a:t>Trigger: Scheduled + change-driven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38744" y="1143000"/>
            <a:ext cx="3639312" cy="1353312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348472" y="1252728"/>
            <a:ext cx="347472" cy="347472"/>
          </a:xfrm>
          <a:prstGeom prst="roundRect">
            <a:avLst/>
          </a:prstGeom>
          <a:solidFill>
            <a:srgbClr val="532491"/>
          </a:solidFill>
          <a:ln w="10160">
            <a:solidFill>
              <a:srgbClr val="532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48472" y="1271016"/>
            <a:ext cx="34747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05672" y="1252728"/>
            <a:ext cx="2880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Cloud Spend Forecasting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21624" y="1673352"/>
            <a:ext cx="324612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283041"/>
                </a:solidFill>
                <a:latin typeface="Aptos"/>
              </a:defRPr>
            </a:pPr>
            <a:r>
              <a:t>Forecast month-end/quarterly spend and predict budget risk.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1624" y="2176272"/>
            <a:ext cx="3246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90" b="1">
                <a:solidFill>
                  <a:srgbClr val="237E5A"/>
                </a:solidFill>
                <a:latin typeface="Aptos"/>
              </a:defRPr>
            </a:pPr>
            <a:r>
              <a:t>Trigger: Scheduled + data refresh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2743200"/>
            <a:ext cx="3639312" cy="1353312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12648" y="2852928"/>
            <a:ext cx="347472" cy="347472"/>
          </a:xfrm>
          <a:prstGeom prst="roundRect">
            <a:avLst/>
          </a:prstGeom>
          <a:solidFill>
            <a:srgbClr val="532491"/>
          </a:solidFill>
          <a:ln w="10160">
            <a:solidFill>
              <a:srgbClr val="532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2648" y="2871216"/>
            <a:ext cx="34747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" y="2852928"/>
            <a:ext cx="2880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Environment Drift Detection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273552"/>
            <a:ext cx="324612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283041"/>
                </a:solidFill>
                <a:latin typeface="Aptos"/>
              </a:defRPr>
            </a:pPr>
            <a:r>
              <a:t>Detect configuration/IaC divergence and governance risk.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776472"/>
            <a:ext cx="3246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90" b="1">
                <a:solidFill>
                  <a:srgbClr val="237E5A"/>
                </a:solidFill>
                <a:latin typeface="Aptos"/>
              </a:defRPr>
            </a:pPr>
            <a:r>
              <a:t>Trigger: Configuration event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70832" y="2743200"/>
            <a:ext cx="3639312" cy="1353312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480560" y="2852928"/>
            <a:ext cx="347472" cy="347472"/>
          </a:xfrm>
          <a:prstGeom prst="roundRect">
            <a:avLst/>
          </a:prstGeom>
          <a:solidFill>
            <a:srgbClr val="532491"/>
          </a:solidFill>
          <a:ln w="10160">
            <a:solidFill>
              <a:srgbClr val="532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80560" y="2871216"/>
            <a:ext cx="34747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2852928"/>
            <a:ext cx="2880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Environment Health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53712" y="3273552"/>
            <a:ext cx="324612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283041"/>
                </a:solidFill>
                <a:latin typeface="Aptos"/>
              </a:defRPr>
            </a:pPr>
            <a:r>
              <a:t>Correlate health, capacity, backup and incident signals.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3776472"/>
            <a:ext cx="3246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90" b="1">
                <a:solidFill>
                  <a:srgbClr val="237E5A"/>
                </a:solidFill>
                <a:latin typeface="Aptos"/>
              </a:defRPr>
            </a:pPr>
            <a:r>
              <a:t>Trigger: Monitoring + scheduled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38744" y="2743200"/>
            <a:ext cx="3639312" cy="1353312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8348472" y="2852928"/>
            <a:ext cx="347472" cy="347472"/>
          </a:xfrm>
          <a:prstGeom prst="roundRect">
            <a:avLst/>
          </a:prstGeom>
          <a:solidFill>
            <a:srgbClr val="532491"/>
          </a:solidFill>
          <a:ln w="10160">
            <a:solidFill>
              <a:srgbClr val="532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48472" y="2871216"/>
            <a:ext cx="34747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05672" y="2852928"/>
            <a:ext cx="2880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Fabric Capacity Optimization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21624" y="3273552"/>
            <a:ext cx="324612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283041"/>
                </a:solidFill>
                <a:latin typeface="Aptos"/>
              </a:defRPr>
            </a:pPr>
            <a:r>
              <a:t>Optimize Fabric/Power BI capacity against workload demand.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21624" y="3776472"/>
            <a:ext cx="3246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90" b="1">
                <a:solidFill>
                  <a:srgbClr val="237E5A"/>
                </a:solidFill>
                <a:latin typeface="Aptos"/>
              </a:defRPr>
            </a:pPr>
            <a:r>
              <a:t>Trigger: Scheduled + capacity change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4343400"/>
            <a:ext cx="3639312" cy="1353312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612648" y="4453128"/>
            <a:ext cx="347472" cy="347472"/>
          </a:xfrm>
          <a:prstGeom prst="roundRect">
            <a:avLst/>
          </a:prstGeom>
          <a:solidFill>
            <a:srgbClr val="532491"/>
          </a:solidFill>
          <a:ln w="10160">
            <a:solidFill>
              <a:srgbClr val="532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12648" y="4471416"/>
            <a:ext cx="34747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9848" y="4453128"/>
            <a:ext cx="2880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Executive FinOps Reporting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4873752"/>
            <a:ext cx="324612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283041"/>
                </a:solidFill>
                <a:latin typeface="Aptos"/>
              </a:defRPr>
            </a:pPr>
            <a:r>
              <a:t>Generate evidence-backed KPI, risk and action summaries.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5376672"/>
            <a:ext cx="3246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90" b="1">
                <a:solidFill>
                  <a:srgbClr val="237E5A"/>
                </a:solidFill>
                <a:latin typeface="Aptos"/>
              </a:defRPr>
            </a:pPr>
            <a:r>
              <a:t>Trigger: Scheduled + material event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70832" y="4343400"/>
            <a:ext cx="3639312" cy="1353312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4480560" y="4453128"/>
            <a:ext cx="347472" cy="347472"/>
          </a:xfrm>
          <a:prstGeom prst="roundRect">
            <a:avLst/>
          </a:prstGeom>
          <a:solidFill>
            <a:srgbClr val="532491"/>
          </a:solidFill>
          <a:ln w="10160">
            <a:solidFill>
              <a:srgbClr val="532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480560" y="4471416"/>
            <a:ext cx="34747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37760" y="4453128"/>
            <a:ext cx="2880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Resource Lifecycle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53712" y="4873752"/>
            <a:ext cx="324612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283041"/>
                </a:solidFill>
                <a:latin typeface="Aptos"/>
              </a:defRPr>
            </a:pPr>
            <a:r>
              <a:t>Find stale/unused resources and guide governed cleanup.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53712" y="5376672"/>
            <a:ext cx="3246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90" b="1">
                <a:solidFill>
                  <a:srgbClr val="237E5A"/>
                </a:solidFill>
                <a:latin typeface="Aptos"/>
              </a:defRPr>
            </a:pPr>
            <a:r>
              <a:t>Trigger: Scheduled + inactivity threshold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238744" y="4343400"/>
            <a:ext cx="3639312" cy="1353312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8348472" y="4453128"/>
            <a:ext cx="347472" cy="347472"/>
          </a:xfrm>
          <a:prstGeom prst="roundRect">
            <a:avLst/>
          </a:prstGeom>
          <a:solidFill>
            <a:srgbClr val="532491"/>
          </a:solidFill>
          <a:ln w="10160">
            <a:solidFill>
              <a:srgbClr val="532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348472" y="4471416"/>
            <a:ext cx="34747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05672" y="4453128"/>
            <a:ext cx="2880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FinOps Copilot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21624" y="4873752"/>
            <a:ext cx="324612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283041"/>
                </a:solidFill>
                <a:latin typeface="Aptos"/>
              </a:defRPr>
            </a:pPr>
            <a:r>
              <a:t>Provide governed natural-language FinOps insight when users ask.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21624" y="5376672"/>
            <a:ext cx="3246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90" b="1">
                <a:solidFill>
                  <a:srgbClr val="237E5A"/>
                </a:solidFill>
                <a:latin typeface="Aptos"/>
              </a:defRPr>
            </a:pPr>
            <a:r>
              <a:t>Trigger: User-facing (optional)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02920" y="6007608"/>
            <a:ext cx="11155680" cy="411480"/>
          </a:xfrm>
          <a:prstGeom prst="roundRect">
            <a:avLst/>
          </a:prstGeom>
          <a:solidFill>
            <a:srgbClr val="F7F8FC"/>
          </a:solidFill>
          <a:ln w="10160">
            <a:solidFill>
              <a:srgbClr val="CD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85800" y="6117336"/>
            <a:ext cx="10789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30" b="1">
                <a:solidFill>
                  <a:srgbClr val="532491"/>
                </a:solidFill>
                <a:latin typeface="Aptos"/>
              </a:defRPr>
            </a:pPr>
            <a:r>
              <a:t>Autonomy model: Low risk → auto-execute | Medium risk → approval workflow | High risk → recommendation only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4360" y="6547104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5C6678"/>
                </a:solidFill>
                <a:latin typeface="Aptos"/>
              </a:defRPr>
            </a:pPr>
            <a:r>
              <a:t>The FinOps Copilot is user-facing; the other agents are designed to operate continuously in the background without user action.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12235A"/>
                </a:solidFill>
                <a:latin typeface="Aptos"/>
              </a:defRPr>
            </a:pPr>
            <a:r>
              <a:t>Release Autopilot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13232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C6678"/>
                </a:solidFill>
                <a:latin typeface="Aptos"/>
              </a:defRPr>
            </a:pPr>
            <a:r>
              <a:t>Autonomous release intelligence for continuous release communication, governance and deployment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594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1">
                <a:solidFill>
                  <a:srgbClr val="5C6678"/>
                </a:solidFill>
                <a:latin typeface="Aptos"/>
              </a:defRPr>
            </a:pPr>
            <a:r>
              <a:rPr dirty="0"/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4800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532491"/>
                </a:solidFill>
                <a:latin typeface="Aptos"/>
              </a:defRPr>
            </a:pPr>
            <a:r>
              <a:t>Platform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44752"/>
            <a:ext cx="4754880" cy="658368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545336"/>
            <a:ext cx="16002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2235A"/>
                </a:solidFill>
                <a:latin typeface="Aptos"/>
              </a:defRPr>
            </a:pPr>
            <a:r>
              <a:t>Release Control Center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527048"/>
            <a:ext cx="2788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0" b="0">
                <a:solidFill>
                  <a:srgbClr val="283041"/>
                </a:solidFill>
                <a:latin typeface="Aptos"/>
              </a:defRPr>
            </a:pPr>
            <a:r>
              <a:t>Unified view of release readiness, governance, evidence, changes, risks and stakeholder communication.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267712"/>
            <a:ext cx="4754880" cy="658368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368296"/>
            <a:ext cx="16002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2235A"/>
                </a:solidFill>
                <a:latin typeface="Aptos"/>
              </a:defRPr>
            </a:pPr>
            <a:r>
              <a:t>Autonomous Agent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350008"/>
            <a:ext cx="2788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0" b="0">
                <a:solidFill>
                  <a:srgbClr val="283041"/>
                </a:solidFill>
                <a:latin typeface="Aptos"/>
              </a:defRPr>
            </a:pPr>
            <a:r>
              <a:t>2 specialist agents continuously analyze release artifacts and governance signals from release events and scheduled checkpoints.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090672"/>
            <a:ext cx="4754880" cy="658368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3191256"/>
            <a:ext cx="16002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2235A"/>
                </a:solidFill>
                <a:latin typeface="Aptos"/>
              </a:defRPr>
            </a:pPr>
            <a:r>
              <a:t>MCP Tool &amp; Context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3172968"/>
            <a:ext cx="2788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0" b="0">
                <a:solidFill>
                  <a:srgbClr val="283041"/>
                </a:solidFill>
                <a:latin typeface="Aptos"/>
              </a:defRPr>
            </a:pPr>
            <a:r>
              <a:t>Standardized access to Azure DevOps, GitHub/GitLab, ServiceNow, SharePoint, testing and security tools.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913632"/>
            <a:ext cx="4754880" cy="658368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4014216"/>
            <a:ext cx="16002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2235A"/>
                </a:solidFill>
                <a:latin typeface="Aptos"/>
              </a:defRPr>
            </a:pPr>
            <a:r>
              <a:t>Logic Apps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3995928"/>
            <a:ext cx="2788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0" b="0">
                <a:solidFill>
                  <a:srgbClr val="283041"/>
                </a:solidFill>
                <a:latin typeface="Aptos"/>
              </a:defRPr>
            </a:pPr>
            <a:r>
              <a:t>Executes governed approval, publishing and release-gating workflows with auditability, retries and notifications.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23560" y="1024128"/>
            <a:ext cx="5989320" cy="3611880"/>
          </a:xfrm>
          <a:prstGeom prst="roundRect">
            <a:avLst/>
          </a:prstGeom>
          <a:solidFill>
            <a:srgbClr val="FAFBFF"/>
          </a:solidFill>
          <a:ln w="10160">
            <a:solidFill>
              <a:srgbClr val="BEC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70448" y="1243584"/>
            <a:ext cx="5440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532491"/>
                </a:solidFill>
                <a:latin typeface="Aptos"/>
              </a:defRPr>
            </a:pPr>
            <a:r>
              <a:t>Continuous Release Workflow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97880" y="1664208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07608" y="1773936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1737360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Sense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6792" y="1975104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Capture release, code, deployment and governance events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59368" y="1664208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69096" y="1773936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1737360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Correlate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1975104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Link requirements, work items, code, tests, changes and incidents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97880" y="2560320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07608" y="2670048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2" y="2633472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Assess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2871215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Classify impact, readiness, compliance and release risk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59368" y="2560320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769096" y="2670048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2633472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Generate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2871215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Create grounded release notes and evidence summaries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97880" y="3456432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07608" y="3566160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36792" y="3529584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36792" y="3767328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Apply policy, approvals and release-gate rules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59368" y="3456432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769096" y="3566160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98280" y="3529584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Learn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98280" y="3767328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Validate outcomes and improve release intelligence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489204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532491"/>
                </a:solidFill>
                <a:latin typeface="Aptos"/>
              </a:defRPr>
            </a:pPr>
            <a:r>
              <a:t>Business Outcomes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5285232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↓ Release Effort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39112" y="528523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Automated release-note preparation and evidence packaging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25112" y="5285232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↑ Release Readiness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69864" y="528523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Continuous validation before deployment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55864" y="5285232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↑ Governance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0616" y="528523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Consistent controls, approvals and audit evidence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5852160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↓ Release Risk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39112" y="585216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Earlier detection of missing or conflicting evidence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25112" y="5852160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↑ Communication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69864" y="585216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Audience-specific, business-focused release summaries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55864" y="5852160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↑ Traceability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00616" y="585216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End-to-end linkage from requirement to deployment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4360" y="6547104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5C6678"/>
                </a:solidFill>
                <a:latin typeface="Aptos"/>
              </a:defRPr>
            </a:pPr>
            <a:r>
              <a:t>Release principle: continuously sense → correlate → assess → generate → decide → act → validate → learn, with deterministic controls for mandatory governance.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Picture 84" descr="A diagram with many icons&#10;&#10;AI-generated content may be incorrect.">
            <a:extLst>
              <a:ext uri="{FF2B5EF4-FFF2-40B4-BE49-F238E27FC236}">
                <a16:creationId xmlns:a16="http://schemas.microsoft.com/office/drawing/2014/main" id="{2C1A1EE9-5CA2-A41B-B3E1-687882463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86" name="TextBox 85">
            <a:extLst>
              <a:ext uri="{FF2B5EF4-FFF2-40B4-BE49-F238E27FC236}">
                <a16:creationId xmlns:a16="http://schemas.microsoft.com/office/drawing/2014/main" id="{15AD2160-DFE3-69EE-8A12-59B8C5A81AC1}"/>
              </a:ext>
            </a:extLst>
          </p:cNvPr>
          <p:cNvSpPr txBox="1"/>
          <p:nvPr/>
        </p:nvSpPr>
        <p:spPr>
          <a:xfrm>
            <a:off x="10972800" y="274320"/>
            <a:ext cx="59436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1">
                <a:solidFill>
                  <a:srgbClr val="5C6678"/>
                </a:solidFill>
                <a:latin typeface="Aptos"/>
              </a:defRPr>
            </a:pPr>
            <a:r>
              <a:rPr lang="en-IN" dirty="0"/>
              <a:t>8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12235A"/>
                </a:solidFill>
                <a:latin typeface="Aptos"/>
              </a:defRPr>
            </a:pPr>
            <a:r>
              <a:t>Release Autonomous Agent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13232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C6678"/>
                </a:solidFill>
                <a:latin typeface="Aptos"/>
              </a:defRPr>
            </a:pPr>
            <a:r>
              <a:t>Two specialist agents share the same evidence foundation, control plane, MCP tools and governed workflow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594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1">
                <a:solidFill>
                  <a:srgbClr val="5C6678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074920" cy="2148840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68680" y="1536192"/>
            <a:ext cx="438912" cy="438912"/>
          </a:xfrm>
          <a:prstGeom prst="roundRect">
            <a:avLst/>
          </a:prstGeom>
          <a:solidFill>
            <a:srgbClr val="532491"/>
          </a:solidFill>
          <a:ln w="10160">
            <a:solidFill>
              <a:srgbClr val="532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4389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536192"/>
            <a:ext cx="397763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12235A"/>
                </a:solidFill>
                <a:latin typeface="Aptos"/>
              </a:defRPr>
            </a:pPr>
            <a:r>
              <a:t>Release Notes Generator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44348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0">
                <a:solidFill>
                  <a:srgbClr val="283041"/>
                </a:solidFill>
                <a:latin typeface="Aptos"/>
              </a:defRPr>
            </a:pPr>
            <a:r>
              <a:t>Continuously correlate work items, code, deployments and incidents to generate grounded, audience-specific release communications.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80360"/>
            <a:ext cx="4434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1">
                <a:solidFill>
                  <a:srgbClr val="237E5A"/>
                </a:solidFill>
                <a:latin typeface="Aptos"/>
              </a:defRPr>
            </a:pPr>
            <a:r>
              <a:t>Trigger: Release / deployment events + scheduled checkpoints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25880"/>
            <a:ext cx="5074920" cy="2148840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0" y="1536192"/>
            <a:ext cx="438912" cy="438912"/>
          </a:xfrm>
          <a:prstGeom prst="roundRect">
            <a:avLst/>
          </a:prstGeom>
          <a:solidFill>
            <a:srgbClr val="532491"/>
          </a:solidFill>
          <a:ln w="10160">
            <a:solidFill>
              <a:srgbClr val="532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645920"/>
            <a:ext cx="4389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59" y="1536192"/>
            <a:ext cx="397763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12235A"/>
                </a:solidFill>
                <a:latin typeface="Aptos"/>
              </a:defRPr>
            </a:pPr>
            <a:r>
              <a:t>Release Governance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084831"/>
            <a:ext cx="44348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0">
                <a:solidFill>
                  <a:srgbClr val="283041"/>
                </a:solidFill>
                <a:latin typeface="Aptos"/>
              </a:defRPr>
            </a:pPr>
            <a:r>
              <a:t>Continuously validate approvals, testing, security, change records and documentation; score readiness and identify governance gaps.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880360"/>
            <a:ext cx="4434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1">
                <a:solidFill>
                  <a:srgbClr val="237E5A"/>
                </a:solidFill>
                <a:latin typeface="Aptos"/>
              </a:defRPr>
            </a:pPr>
            <a:r>
              <a:t>Trigger: Release / change / test / security events + scheduled checkpoints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977639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532491"/>
                </a:solidFill>
                <a:latin typeface="Aptos"/>
              </a:defRPr>
            </a:pPr>
            <a:r>
              <a:t>Shared Autonomous Operating Model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370832"/>
            <a:ext cx="2578608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2648" y="445312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1">
                <a:solidFill>
                  <a:srgbClr val="532491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443984"/>
            <a:ext cx="1463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60" b="0">
                <a:solidFill>
                  <a:srgbClr val="283041"/>
                </a:solidFill>
                <a:latin typeface="Aptos"/>
              </a:defRPr>
            </a:pPr>
            <a:r>
              <a:t>Release, code, test, security &amp; change signals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37560" y="4370832"/>
            <a:ext cx="2578608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47288" y="445312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1">
                <a:solidFill>
                  <a:srgbClr val="532491"/>
                </a:solidFill>
                <a:latin typeface="Aptos"/>
              </a:defRPr>
            </a:pPr>
            <a:r>
              <a:t>Correlate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443984"/>
            <a:ext cx="1463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60" b="0">
                <a:solidFill>
                  <a:srgbClr val="283041"/>
                </a:solidFill>
                <a:latin typeface="Aptos"/>
              </a:defRPr>
            </a:pPr>
            <a:r>
              <a:t>Build a trusted release evidence graph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4370832"/>
            <a:ext cx="2578608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81928" y="445312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1">
                <a:solidFill>
                  <a:srgbClr val="532491"/>
                </a:solidFill>
                <a:latin typeface="Aptos"/>
              </a:defRPr>
            </a:pPr>
            <a:r>
              <a:t>Assess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4443984"/>
            <a:ext cx="1463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60" b="0">
                <a:solidFill>
                  <a:srgbClr val="283041"/>
                </a:solidFill>
                <a:latin typeface="Aptos"/>
              </a:defRPr>
            </a:pPr>
            <a:r>
              <a:t>Readiness, risk, impact &amp; governance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06840" y="4370832"/>
            <a:ext cx="2578608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16568" y="445312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1">
                <a:solidFill>
                  <a:srgbClr val="532491"/>
                </a:solidFill>
                <a:latin typeface="Aptos"/>
              </a:defRPr>
            </a:pPr>
            <a:r>
              <a:t>Generate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4443984"/>
            <a:ext cx="1463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60" b="0">
                <a:solidFill>
                  <a:srgbClr val="283041"/>
                </a:solidFill>
                <a:latin typeface="Aptos"/>
              </a:defRPr>
            </a:pPr>
            <a:r>
              <a:t>Notes, summaries &amp; evidence package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239512"/>
            <a:ext cx="2578608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2648" y="532180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1">
                <a:solidFill>
                  <a:srgbClr val="532491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5312664"/>
            <a:ext cx="1463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60" b="0">
                <a:solidFill>
                  <a:srgbClr val="283041"/>
                </a:solidFill>
                <a:latin typeface="Aptos"/>
              </a:defRPr>
            </a:pPr>
            <a:r>
              <a:t>Policy, approval &amp; gate decision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37560" y="5239512"/>
            <a:ext cx="2578608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447288" y="532180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1">
                <a:solidFill>
                  <a:srgbClr val="532491"/>
                </a:solidFill>
                <a:latin typeface="Aptos"/>
              </a:defRPr>
            </a:pPr>
            <a:r>
              <a:t>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0" y="5312664"/>
            <a:ext cx="1463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60" b="0">
                <a:solidFill>
                  <a:srgbClr val="283041"/>
                </a:solidFill>
                <a:latin typeface="Aptos"/>
              </a:defRPr>
            </a:pPr>
            <a:r>
              <a:t>Publish, approve, hold or block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5239512"/>
            <a:ext cx="2578608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81928" y="532180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1">
                <a:solidFill>
                  <a:srgbClr val="532491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5312664"/>
            <a:ext cx="1463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60" b="0">
                <a:solidFill>
                  <a:srgbClr val="283041"/>
                </a:solidFill>
                <a:latin typeface="Aptos"/>
              </a:defRPr>
            </a:pPr>
            <a:r>
              <a:t>Confirm outcome after release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6199632"/>
            <a:ext cx="11155680" cy="274320"/>
          </a:xfrm>
          <a:prstGeom prst="roundRect">
            <a:avLst/>
          </a:prstGeom>
          <a:solidFill>
            <a:srgbClr val="F7F8FC"/>
          </a:solidFill>
          <a:ln w="10160">
            <a:solidFill>
              <a:srgbClr val="CD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85800" y="6254496"/>
            <a:ext cx="107899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40" b="1">
                <a:solidFill>
                  <a:srgbClr val="12235A"/>
                </a:solidFill>
                <a:latin typeface="Aptos"/>
              </a:defRPr>
            </a:pPr>
            <a:r>
              <a:t>Autonomy model: Low-risk communication / evidence actions → auto-execute  |  Governance decisions → policy-driven gates / approvals  |  High-risk exceptions → human decision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547104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5C6678"/>
                </a:solidFill>
                <a:latin typeface="Aptos"/>
              </a:defRPr>
            </a:pPr>
            <a:r>
              <a:t>Release Autopilot is designed to operate continuously in the background; users intervene only for approvals, exceptions or decisions requiring business accountability.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12235A"/>
                </a:solidFill>
                <a:latin typeface="Aptos"/>
              </a:defRPr>
            </a:pPr>
            <a:r>
              <a:t>DBA Autopilot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13232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C6678"/>
                </a:solidFill>
                <a:latin typeface="Aptos"/>
              </a:defRPr>
            </a:pPr>
            <a:r>
              <a:t>Autonomous database access-risk intelligence for continuous privileged-access monitoring, governance and remediation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594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1">
                <a:solidFill>
                  <a:srgbClr val="5C6678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4800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532491"/>
                </a:solidFill>
                <a:latin typeface="Aptos"/>
              </a:defRPr>
            </a:pPr>
            <a:r>
              <a:t>Platform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44752"/>
            <a:ext cx="4754880" cy="658368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545336"/>
            <a:ext cx="16002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2235A"/>
                </a:solidFill>
                <a:latin typeface="Aptos"/>
              </a:defRPr>
            </a:pPr>
            <a:r>
              <a:t>DBA Risk Control Center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527048"/>
            <a:ext cx="2788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283041"/>
                </a:solidFill>
                <a:latin typeface="Aptos"/>
              </a:defRPr>
            </a:pPr>
            <a:r>
              <a:t>Unified view of privileged-access risk, audit findings, remediation status and evidence.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267712"/>
            <a:ext cx="4754880" cy="658368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368296"/>
            <a:ext cx="16002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2235A"/>
                </a:solidFill>
                <a:latin typeface="Aptos"/>
              </a:defRPr>
            </a:pPr>
            <a:r>
              <a:t>Autonomous DBA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350008"/>
            <a:ext cx="2788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283041"/>
                </a:solidFill>
                <a:latin typeface="Aptos"/>
              </a:defRPr>
            </a:pPr>
            <a:r>
              <a:t>Continuously analyzes permissions, identities, audit activity, changes and historical findings without user initiation.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090672"/>
            <a:ext cx="4754880" cy="658368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3191256"/>
            <a:ext cx="16002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2235A"/>
                </a:solidFill>
                <a:latin typeface="Aptos"/>
              </a:defRPr>
            </a:pPr>
            <a:r>
              <a:t>MCP Tool &amp; Context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3172968"/>
            <a:ext cx="2788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283041"/>
                </a:solidFill>
                <a:latin typeface="Aptos"/>
              </a:defRPr>
            </a:pPr>
            <a:r>
              <a:t>Standardized access to SQL metadata, audit data, Entra ID, ServiceNow and governance knowledge.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913632"/>
            <a:ext cx="4754880" cy="658368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4014216"/>
            <a:ext cx="16002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2235A"/>
                </a:solidFill>
                <a:latin typeface="Aptos"/>
              </a:defRPr>
            </a:pPr>
            <a:r>
              <a:t>Logic Apps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3995928"/>
            <a:ext cx="2788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283041"/>
                </a:solidFill>
                <a:latin typeface="Aptos"/>
              </a:defRPr>
            </a:pPr>
            <a:r>
              <a:t>Executes governed remediation and approval workflows with policy checks, notifications, audit trails and rollback controls.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23560" y="1024128"/>
            <a:ext cx="5989320" cy="3611880"/>
          </a:xfrm>
          <a:prstGeom prst="roundRect">
            <a:avLst/>
          </a:prstGeom>
          <a:solidFill>
            <a:srgbClr val="FAFBFF"/>
          </a:solidFill>
          <a:ln w="10160">
            <a:solidFill>
              <a:srgbClr val="BEC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70448" y="1243584"/>
            <a:ext cx="5440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532491"/>
                </a:solidFill>
                <a:latin typeface="Aptos"/>
              </a:defRPr>
            </a:pPr>
            <a:r>
              <a:t>Continuous DBA Risk Workflow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97880" y="1664208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07608" y="1773936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1737360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Sense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6792" y="1975104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Collect permission, identity, audit and change signals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59368" y="1664208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69096" y="1773936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1737360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Baseline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1975104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Establish approved access and normal activity patterns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97880" y="2560320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07608" y="2670048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2" y="2633472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Assess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2871215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Detect excessive, stale or anomalous privileged access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59368" y="2560320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769096" y="2670048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2633472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Prioritize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2871215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Score risk using identity, database and business context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97880" y="3456432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07608" y="3566160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36792" y="3529584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Act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36792" y="3767328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Recommend, approve or execute governed remediation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59368" y="3456432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769096" y="3566160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98280" y="3529584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98280" y="3767328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Verify remediation effectiveness and update audit evidence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489204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532491"/>
                </a:solidFill>
                <a:latin typeface="Aptos"/>
              </a:defRPr>
            </a:pPr>
            <a:r>
              <a:t>Business Outcomes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5285232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↓ Access Risk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39112" y="528523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10" b="0">
                <a:solidFill>
                  <a:srgbClr val="283041"/>
                </a:solidFill>
                <a:latin typeface="Aptos"/>
              </a:defRPr>
            </a:pPr>
            <a:r>
              <a:t>Earlier identification of excessive and anomalous privileges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25112" y="5285232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↓ Audit Exposure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69864" y="528523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10" b="0">
                <a:solidFill>
                  <a:srgbClr val="283041"/>
                </a:solidFill>
                <a:latin typeface="Aptos"/>
              </a:defRPr>
            </a:pPr>
            <a:r>
              <a:t>Continuous evidence and proactive audit-risk detection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55864" y="5285232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↑ Remediation Effectiveness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0616" y="528523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10" b="0">
                <a:solidFill>
                  <a:srgbClr val="283041"/>
                </a:solidFill>
                <a:latin typeface="Aptos"/>
              </a:defRPr>
            </a:pPr>
            <a:r>
              <a:t>Verify that corrective actions actually reduced risk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5852160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↓ Manual Review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39112" y="585216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10" b="0">
                <a:solidFill>
                  <a:srgbClr val="283041"/>
                </a:solidFill>
                <a:latin typeface="Aptos"/>
              </a:defRPr>
            </a:pPr>
            <a:r>
              <a:t>Automated permission analysis and evidence preparation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25112" y="5852160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↑ Governance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69864" y="585216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10" b="0">
                <a:solidFill>
                  <a:srgbClr val="283041"/>
                </a:solidFill>
                <a:latin typeface="Aptos"/>
              </a:defRPr>
            </a:pPr>
            <a:r>
              <a:t>Consistent application of privileged-access standards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55864" y="5852160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↑ Traceability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00616" y="585216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10" b="0">
                <a:solidFill>
                  <a:srgbClr val="283041"/>
                </a:solidFill>
                <a:latin typeface="Aptos"/>
              </a:defRPr>
            </a:pPr>
            <a:r>
              <a:t>Link identity, permission, change, finding and remediation history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4360" y="6547104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5C6678"/>
                </a:solidFill>
                <a:latin typeface="Aptos"/>
              </a:defRPr>
            </a:pPr>
            <a:r>
              <a:t>DBA principle: continuously sense → baseline → assess → prioritize → act → validate, with deterministic access controls and human approval for high-risk changes.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972800" y="274320"/>
            <a:ext cx="594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1">
                <a:solidFill>
                  <a:srgbClr val="5C6678"/>
                </a:solidFill>
                <a:latin typeface="Aptos"/>
              </a:defRPr>
            </a:pPr>
            <a:r>
              <a:t>11</a:t>
            </a:r>
          </a:p>
        </p:txBody>
      </p:sp>
      <p:pic>
        <p:nvPicPr>
          <p:cNvPr id="82" name="Picture 81" descr="A diagram with icons and symbols&#10;&#10;AI-generated content may be incorrect.">
            <a:extLst>
              <a:ext uri="{FF2B5EF4-FFF2-40B4-BE49-F238E27FC236}">
                <a16:creationId xmlns:a16="http://schemas.microsoft.com/office/drawing/2014/main" id="{0E5437C8-E44C-AF55-DDA2-2ED35967F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845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12235A"/>
                </a:solidFill>
                <a:latin typeface="Aptos"/>
              </a:defRPr>
            </a:pPr>
            <a:r>
              <a:t>DBA Autonomous Agent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13232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C6678"/>
                </a:solidFill>
                <a:latin typeface="Aptos"/>
              </a:defRPr>
            </a:pPr>
            <a:r>
              <a:t>One specialist agent today, built on a reusable DBA control, context and workflow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594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1">
                <a:solidFill>
                  <a:srgbClr val="5C6678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80160"/>
            <a:ext cx="10789920" cy="2103120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1554480"/>
            <a:ext cx="502920" cy="502920"/>
          </a:xfrm>
          <a:prstGeom prst="roundRect">
            <a:avLst/>
          </a:prstGeom>
          <a:solidFill>
            <a:srgbClr val="532491"/>
          </a:solidFill>
          <a:ln w="10160">
            <a:solidFill>
              <a:srgbClr val="532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00784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554480"/>
            <a:ext cx="8046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12235A"/>
                </a:solidFill>
                <a:latin typeface="Aptos"/>
              </a:defRPr>
            </a:pPr>
            <a:r>
              <a:t>Privileged Access Risk Intelligence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9966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0">
                <a:solidFill>
                  <a:srgbClr val="283041"/>
                </a:solidFill>
                <a:latin typeface="Aptos"/>
              </a:defRPr>
            </a:pPr>
            <a:r>
              <a:t>Continuously analyzes SQL Server permissions, audit activity, identity context, ServiceNow changes, historical findings and privileged-access standards to detect high-risk access, explain the risk, prioritize remediation and verify effectiveness.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907792"/>
            <a:ext cx="9966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1">
                <a:solidFill>
                  <a:srgbClr val="237E5A"/>
                </a:solidFill>
                <a:latin typeface="Aptos"/>
              </a:defRPr>
            </a:pPr>
            <a:r>
              <a:t>Trigger: Permission / identity / DDL / audit / change events + scheduled privileged-access reviews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79476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532491"/>
                </a:solidFill>
                <a:latin typeface="Aptos"/>
              </a:defRPr>
            </a:pPr>
            <a:r>
              <a:t>Autonomous Operating Model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206240"/>
            <a:ext cx="3456432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6" y="4297679"/>
            <a:ext cx="960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40" b="1">
                <a:solidFill>
                  <a:srgbClr val="532491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279392"/>
            <a:ext cx="22677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90" b="0">
                <a:solidFill>
                  <a:srgbClr val="283041"/>
                </a:solidFill>
                <a:latin typeface="Aptos"/>
              </a:defRPr>
            </a:pPr>
            <a:r>
              <a:t>Identity, permission, audit &amp; change signals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59" y="4206240"/>
            <a:ext cx="3456432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79975" y="4297679"/>
            <a:ext cx="960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40" b="1">
                <a:solidFill>
                  <a:srgbClr val="532491"/>
                </a:solidFill>
                <a:latin typeface="Aptos"/>
              </a:defRPr>
            </a:pPr>
            <a:r>
              <a:t>Baseline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79" y="4279392"/>
            <a:ext cx="22677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90" b="0">
                <a:solidFill>
                  <a:srgbClr val="283041"/>
                </a:solidFill>
                <a:latin typeface="Aptos"/>
              </a:defRPr>
            </a:pPr>
            <a:r>
              <a:t>Approved privileged-access state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4206240"/>
            <a:ext cx="3456432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29016" y="4297679"/>
            <a:ext cx="960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40" b="1">
                <a:solidFill>
                  <a:srgbClr val="532491"/>
                </a:solidFill>
                <a:latin typeface="Aptos"/>
              </a:defRPr>
            </a:pPr>
            <a:r>
              <a:t>Detect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4279392"/>
            <a:ext cx="22677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90" b="0">
                <a:solidFill>
                  <a:srgbClr val="283041"/>
                </a:solidFill>
                <a:latin typeface="Aptos"/>
              </a:defRPr>
            </a:pPr>
            <a:r>
              <a:t>Excessive, stale or anomalous access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120640"/>
            <a:ext cx="3456432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0936" y="5212079"/>
            <a:ext cx="960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40" b="1">
                <a:solidFill>
                  <a:srgbClr val="532491"/>
                </a:solidFill>
                <a:latin typeface="Aptos"/>
              </a:defRPr>
            </a:pPr>
            <a:r>
              <a:t>Prioritize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193792"/>
            <a:ext cx="22677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90" b="0">
                <a:solidFill>
                  <a:srgbClr val="283041"/>
                </a:solidFill>
                <a:latin typeface="Aptos"/>
              </a:defRPr>
            </a:pPr>
            <a:r>
              <a:t>Risk, criticality &amp; audit impact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59" y="5120640"/>
            <a:ext cx="3456432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79975" y="5212079"/>
            <a:ext cx="960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40" b="1">
                <a:solidFill>
                  <a:srgbClr val="53249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79" y="5193792"/>
            <a:ext cx="22677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90" b="0">
                <a:solidFill>
                  <a:srgbClr val="283041"/>
                </a:solidFill>
                <a:latin typeface="Aptos"/>
              </a:defRPr>
            </a:pPr>
            <a:r>
              <a:t>Recommend / approve / execute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5120640"/>
            <a:ext cx="3456432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29016" y="5212079"/>
            <a:ext cx="960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40" b="1">
                <a:solidFill>
                  <a:srgbClr val="532491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5193792"/>
            <a:ext cx="22677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90" b="0">
                <a:solidFill>
                  <a:srgbClr val="283041"/>
                </a:solidFill>
                <a:latin typeface="Aptos"/>
              </a:defRPr>
            </a:pPr>
            <a:r>
              <a:t>Confirm access reduction &amp; evidence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6053328"/>
            <a:ext cx="11155680" cy="438912"/>
          </a:xfrm>
          <a:prstGeom prst="roundRect">
            <a:avLst/>
          </a:prstGeom>
          <a:solidFill>
            <a:srgbClr val="F7F8FC"/>
          </a:solidFill>
          <a:ln w="10160">
            <a:solidFill>
              <a:srgbClr val="CD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5800" y="6172200"/>
            <a:ext cx="10789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60" b="1">
                <a:solidFill>
                  <a:srgbClr val="12235A"/>
                </a:solidFill>
                <a:latin typeface="Aptos"/>
              </a:defRPr>
            </a:pPr>
            <a:r>
              <a:t>Autonomy model: Low-risk analysis / evidence → auto-generate  |  Medium-risk remediation → approval workflow  |  High-risk privileged-access change → human authorization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47104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5C6678"/>
                </a:solidFill>
                <a:latin typeface="Aptos"/>
              </a:defRPr>
            </a:pPr>
            <a:r>
              <a:t>DBA Autopilot is designed for continuous background operation; DBAs, security and audit teams intervene for approvals, exceptions and high-impact access decisions.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12235A"/>
                </a:solidFill>
                <a:latin typeface="Aptos"/>
              </a:defRPr>
            </a:pPr>
            <a:r>
              <a:t>SecOps Autopilot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13232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C6678"/>
                </a:solidFill>
                <a:latin typeface="Aptos"/>
              </a:defRPr>
            </a:pPr>
            <a:r>
              <a:t>Autonomous vulnerability intelligence for continuous finding analysis, remediation planning, governed closure and security-risk reduction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594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1">
                <a:solidFill>
                  <a:srgbClr val="5C6678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4800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532491"/>
                </a:solidFill>
                <a:latin typeface="Aptos"/>
              </a:defRPr>
            </a:pPr>
            <a:r>
              <a:t>Platform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44752"/>
            <a:ext cx="4754880" cy="658368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545336"/>
            <a:ext cx="16002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2235A"/>
                </a:solidFill>
                <a:latin typeface="Aptos"/>
              </a:defRPr>
            </a:pPr>
            <a:r>
              <a:t>Security Risk Control Center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527048"/>
            <a:ext cx="2788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90" b="0">
                <a:solidFill>
                  <a:srgbClr val="283041"/>
                </a:solidFill>
                <a:latin typeface="Aptos"/>
              </a:defRPr>
            </a:pPr>
            <a:r>
              <a:t>Unified view of vulnerabilities, penetration-test findings, exposure, remediation status and verified closure.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267712"/>
            <a:ext cx="4754880" cy="658368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368296"/>
            <a:ext cx="16002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2235A"/>
                </a:solidFill>
                <a:latin typeface="Aptos"/>
              </a:defRPr>
            </a:pPr>
            <a:r>
              <a:t>Autonomous SecOps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350008"/>
            <a:ext cx="2788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90" b="0">
                <a:solidFill>
                  <a:srgbClr val="283041"/>
                </a:solidFill>
                <a:latin typeface="Aptos"/>
              </a:defRPr>
            </a:pPr>
            <a:r>
              <a:t>Continuously analyzes security findings and enriches them with asset, architecture, dependency and business context.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090672"/>
            <a:ext cx="4754880" cy="658368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3191256"/>
            <a:ext cx="16002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2235A"/>
                </a:solidFill>
                <a:latin typeface="Aptos"/>
              </a:defRPr>
            </a:pPr>
            <a:r>
              <a:t>MCP Tool &amp; Context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3172968"/>
            <a:ext cx="2788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90" b="0">
                <a:solidFill>
                  <a:srgbClr val="283041"/>
                </a:solidFill>
                <a:latin typeface="Aptos"/>
              </a:defRPr>
            </a:pPr>
            <a:r>
              <a:t>Standardized access to security scanners, Defender, Azure Resource Graph, ServiceNow, Azure DevOps and security knowledge.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913632"/>
            <a:ext cx="4754880" cy="658368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4014216"/>
            <a:ext cx="16002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2235A"/>
                </a:solidFill>
                <a:latin typeface="Aptos"/>
              </a:defRPr>
            </a:pPr>
            <a:r>
              <a:t>Logic Apps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3995928"/>
            <a:ext cx="2788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90" b="0">
                <a:solidFill>
                  <a:srgbClr val="283041"/>
                </a:solidFill>
                <a:latin typeface="Aptos"/>
              </a:defRPr>
            </a:pPr>
            <a:r>
              <a:t>Executes governed remediation, approval, notification and validation workflows with complete auditability.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23560" y="1024128"/>
            <a:ext cx="5989320" cy="3611880"/>
          </a:xfrm>
          <a:prstGeom prst="roundRect">
            <a:avLst/>
          </a:prstGeom>
          <a:solidFill>
            <a:srgbClr val="FAFBFF"/>
          </a:solidFill>
          <a:ln w="10160">
            <a:solidFill>
              <a:srgbClr val="BEC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70448" y="1243584"/>
            <a:ext cx="5440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532491"/>
                </a:solidFill>
                <a:latin typeface="Aptos"/>
              </a:defRPr>
            </a:pPr>
            <a:r>
              <a:t>Continuous SecOps Workflow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97880" y="1664208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07608" y="1773936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1737360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Sense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6792" y="1975104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10" b="0">
                <a:solidFill>
                  <a:srgbClr val="283041"/>
                </a:solidFill>
                <a:latin typeface="Aptos"/>
              </a:defRPr>
            </a:pPr>
            <a:r>
              <a:t>Collect vulnerability, penetration-test and security findings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59368" y="1664208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69096" y="1773936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1737360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Enrich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1975104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10" b="0">
                <a:solidFill>
                  <a:srgbClr val="283041"/>
                </a:solidFill>
                <a:latin typeface="Aptos"/>
              </a:defRPr>
            </a:pPr>
            <a:r>
              <a:t>Map findings to assets, owners, architecture and dependencies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97880" y="2560320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07608" y="2670048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2" y="2633472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Assess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2871215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10" b="0">
                <a:solidFill>
                  <a:srgbClr val="283041"/>
                </a:solidFill>
                <a:latin typeface="Aptos"/>
              </a:defRPr>
            </a:pPr>
            <a:r>
              <a:t>Evaluate exploitability, exposure, criticality and root cause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59368" y="2560320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769096" y="2670048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2633472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Plan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2871215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10" b="0">
                <a:solidFill>
                  <a:srgbClr val="283041"/>
                </a:solidFill>
                <a:latin typeface="Aptos"/>
              </a:defRPr>
            </a:pPr>
            <a:r>
              <a:t>Generate remediation options, effort and risk trade-offs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97880" y="3456432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07608" y="3566160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36792" y="3529584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Act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36792" y="3767328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10" b="0">
                <a:solidFill>
                  <a:srgbClr val="283041"/>
                </a:solidFill>
                <a:latin typeface="Aptos"/>
              </a:defRPr>
            </a:pPr>
            <a:r>
              <a:t>Route through governed engineering and approval workflows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59368" y="3456432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769096" y="3566160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98280" y="3529584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98280" y="3767328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10" b="0">
                <a:solidFill>
                  <a:srgbClr val="283041"/>
                </a:solidFill>
                <a:latin typeface="Aptos"/>
              </a:defRPr>
            </a:pPr>
            <a:r>
              <a:t>Re-scan, verify closure and learn from remediation outcomes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489204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532491"/>
                </a:solidFill>
                <a:latin typeface="Aptos"/>
              </a:defRPr>
            </a:pPr>
            <a:r>
              <a:t>Business Outcomes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5285232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↓ Security Exposure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39112" y="528523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10" b="0">
                <a:solidFill>
                  <a:srgbClr val="283041"/>
                </a:solidFill>
                <a:latin typeface="Aptos"/>
              </a:defRPr>
            </a:pPr>
            <a:r>
              <a:t>Faster remediation of critical vulnerabilities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25112" y="5285232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↓ MTTR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69864" y="528523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10" b="0">
                <a:solidFill>
                  <a:srgbClr val="283041"/>
                </a:solidFill>
                <a:latin typeface="Aptos"/>
              </a:defRPr>
            </a:pPr>
            <a:r>
              <a:t>Shorter security-to-engineering remediation cycle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55864" y="5285232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↑ Remediation Quality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0616" y="528523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10" b="0">
                <a:solidFill>
                  <a:srgbClr val="283041"/>
                </a:solidFill>
                <a:latin typeface="Aptos"/>
              </a:defRPr>
            </a:pPr>
            <a:r>
              <a:t>Evidence-backed plans and verified closure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5852160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↓ Manual Analysis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39112" y="585216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10" b="0">
                <a:solidFill>
                  <a:srgbClr val="283041"/>
                </a:solidFill>
                <a:latin typeface="Aptos"/>
              </a:defRPr>
            </a:pPr>
            <a:r>
              <a:t>Automated finding enrichment and root-cause assessment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25112" y="5852160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↑ Governance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69864" y="585216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10" b="0">
                <a:solidFill>
                  <a:srgbClr val="283041"/>
                </a:solidFill>
                <a:latin typeface="Aptos"/>
              </a:defRPr>
            </a:pPr>
            <a:r>
              <a:t>Consistent approval, tracking and audit evidence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55864" y="5852160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↑ Security Knowledge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00616" y="585216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10" b="0">
                <a:solidFill>
                  <a:srgbClr val="283041"/>
                </a:solidFill>
                <a:latin typeface="Aptos"/>
              </a:defRPr>
            </a:pPr>
            <a:r>
              <a:t>Reusable repository of successful remediations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4360" y="6547104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5C6678"/>
                </a:solidFill>
                <a:latin typeface="Aptos"/>
              </a:defRPr>
            </a:pPr>
            <a:r>
              <a:t>SecOps principle: continuously sense → enrich → assess → plan → act → validate → learn, with high-impact remediation remaining approval-controlled.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972800" y="274320"/>
            <a:ext cx="594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1">
                <a:solidFill>
                  <a:srgbClr val="5C6678"/>
                </a:solidFill>
                <a:latin typeface="Aptos"/>
              </a:defRPr>
            </a:pPr>
            <a:r>
              <a:t>14</a:t>
            </a:r>
          </a:p>
        </p:txBody>
      </p:sp>
      <p:pic>
        <p:nvPicPr>
          <p:cNvPr id="86" name="Picture 85" descr="A diagram with many icons&#10;&#10;AI-generated content may be incorrect.">
            <a:extLst>
              <a:ext uri="{FF2B5EF4-FFF2-40B4-BE49-F238E27FC236}">
                <a16:creationId xmlns:a16="http://schemas.microsoft.com/office/drawing/2014/main" id="{5A20FE4E-5910-D74E-D7EC-3867B9AE7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838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12235A"/>
                </a:solidFill>
                <a:latin typeface="Aptos"/>
              </a:defRPr>
            </a:pPr>
            <a:r>
              <a:t>SecOps Autonomous Agent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13232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C6678"/>
                </a:solidFill>
                <a:latin typeface="Aptos"/>
              </a:defRPr>
            </a:pPr>
            <a:r>
              <a:t>One specialist agent today, built on a reusable SecOps evidence, context and governed workflow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594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1">
                <a:solidFill>
                  <a:srgbClr val="5C6678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80160"/>
            <a:ext cx="10789920" cy="2148840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1554480"/>
            <a:ext cx="502920" cy="502920"/>
          </a:xfrm>
          <a:prstGeom prst="roundRect">
            <a:avLst/>
          </a:prstGeom>
          <a:solidFill>
            <a:srgbClr val="532491"/>
          </a:solidFill>
          <a:ln w="10160">
            <a:solidFill>
              <a:srgbClr val="532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00784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554480"/>
            <a:ext cx="8046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12235A"/>
                </a:solidFill>
                <a:latin typeface="Aptos"/>
              </a:defRPr>
            </a:pPr>
            <a:r>
              <a:t>Vulnerability Resolution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99669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283041"/>
                </a:solidFill>
                <a:latin typeface="Aptos"/>
              </a:defRPr>
            </a:pPr>
            <a:r>
              <a:t>Continuously ingests vulnerability and penetration-test findings, enriches them with asset, architecture, dependency and business context, analyzes exploitability and root cause, recommends remediation paths, orchestrates governed closure and validates the outcome.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926080"/>
            <a:ext cx="9966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40" b="1">
                <a:solidFill>
                  <a:srgbClr val="237E5A"/>
                </a:solidFill>
                <a:latin typeface="Aptos"/>
              </a:defRPr>
            </a:pPr>
            <a:r>
              <a:t>Trigger: New security finding / report / asset context / remediation event + scheduled vulnerability reviews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79476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532491"/>
                </a:solidFill>
                <a:latin typeface="Aptos"/>
              </a:defRPr>
            </a:pPr>
            <a:r>
              <a:t>Autonomous Operating Model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206240"/>
            <a:ext cx="3456432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6" y="4297679"/>
            <a:ext cx="960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40" b="1">
                <a:solidFill>
                  <a:srgbClr val="532491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279392"/>
            <a:ext cx="22677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90" b="0">
                <a:solidFill>
                  <a:srgbClr val="283041"/>
                </a:solidFill>
                <a:latin typeface="Aptos"/>
              </a:defRPr>
            </a:pPr>
            <a:r>
              <a:t>Findings, assets, security &amp; change signals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59" y="4206240"/>
            <a:ext cx="3456432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79975" y="4297679"/>
            <a:ext cx="960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40" b="1">
                <a:solidFill>
                  <a:srgbClr val="532491"/>
                </a:solidFill>
                <a:latin typeface="Aptos"/>
              </a:defRPr>
            </a:pPr>
            <a:r>
              <a:t>Enrich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79" y="4279392"/>
            <a:ext cx="22677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90" b="0">
                <a:solidFill>
                  <a:srgbClr val="283041"/>
                </a:solidFill>
                <a:latin typeface="Aptos"/>
              </a:defRPr>
            </a:pPr>
            <a:r>
              <a:t>Map finding → asset → dependency → owner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4206240"/>
            <a:ext cx="3456432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29016" y="4297679"/>
            <a:ext cx="960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40" b="1">
                <a:solidFill>
                  <a:srgbClr val="532491"/>
                </a:solidFill>
                <a:latin typeface="Aptos"/>
              </a:defRPr>
            </a:pPr>
            <a:r>
              <a:t>Assess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4279392"/>
            <a:ext cx="22677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90" b="0">
                <a:solidFill>
                  <a:srgbClr val="283041"/>
                </a:solidFill>
                <a:latin typeface="Aptos"/>
              </a:defRPr>
            </a:pPr>
            <a:r>
              <a:t>Exploitability, exposure &amp; business risk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120640"/>
            <a:ext cx="3456432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0936" y="5212079"/>
            <a:ext cx="960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40" b="1">
                <a:solidFill>
                  <a:srgbClr val="532491"/>
                </a:solidFill>
                <a:latin typeface="Aptos"/>
              </a:defRPr>
            </a:pPr>
            <a:r>
              <a:t>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193792"/>
            <a:ext cx="22677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90" b="0">
                <a:solidFill>
                  <a:srgbClr val="283041"/>
                </a:solidFill>
                <a:latin typeface="Aptos"/>
              </a:defRPr>
            </a:pPr>
            <a:r>
              <a:t>Remediation options + effort / trade-offs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59" y="5120640"/>
            <a:ext cx="3456432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79975" y="5212079"/>
            <a:ext cx="960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40" b="1">
                <a:solidFill>
                  <a:srgbClr val="53249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79" y="5193792"/>
            <a:ext cx="22677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90" b="0">
                <a:solidFill>
                  <a:srgbClr val="283041"/>
                </a:solidFill>
                <a:latin typeface="Aptos"/>
              </a:defRPr>
            </a:pPr>
            <a:r>
              <a:t>Governed engineering workflow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5120640"/>
            <a:ext cx="3456432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29016" y="5212079"/>
            <a:ext cx="960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40" b="1">
                <a:solidFill>
                  <a:srgbClr val="532491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5193792"/>
            <a:ext cx="22677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90" b="0">
                <a:solidFill>
                  <a:srgbClr val="283041"/>
                </a:solidFill>
                <a:latin typeface="Aptos"/>
              </a:defRPr>
            </a:pPr>
            <a:r>
              <a:t>Re-scan and verify closure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6053328"/>
            <a:ext cx="11155680" cy="438912"/>
          </a:xfrm>
          <a:prstGeom prst="roundRect">
            <a:avLst/>
          </a:prstGeom>
          <a:solidFill>
            <a:srgbClr val="F7F8FC"/>
          </a:solidFill>
          <a:ln w="10160">
            <a:solidFill>
              <a:srgbClr val="CD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5800" y="6172200"/>
            <a:ext cx="10789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50" b="1">
                <a:solidFill>
                  <a:srgbClr val="12235A"/>
                </a:solidFill>
                <a:latin typeface="Aptos"/>
              </a:defRPr>
            </a:pPr>
            <a:r>
              <a:t>Autonomy model: Low-risk analysis / recommendations → auto-generate  |  Medium-risk remediation → approval workflow  |  High-impact security changes → human authorization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47104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5C6678"/>
                </a:solidFill>
                <a:latin typeface="Aptos"/>
              </a:defRPr>
            </a:pPr>
            <a:r>
              <a:t>SecOps Autopilot is designed for continuous background operation; security and engineering teams intervene for approvals, exceptions and high-impact remediation decisions.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12235A"/>
                </a:solidFill>
                <a:latin typeface="Aptos"/>
              </a:defRPr>
            </a:pPr>
            <a:r>
              <a:t>Business Intelligence Autopilot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13232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C6678"/>
                </a:solidFill>
                <a:latin typeface="Aptos"/>
              </a:defRPr>
            </a:pPr>
            <a:r>
              <a:t>Autonomous AI for proactive customer-risk prediction and independent actuarial decision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594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1">
                <a:solidFill>
                  <a:srgbClr val="5C6678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4800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532491"/>
                </a:solidFill>
                <a:latin typeface="Aptos"/>
              </a:defRPr>
            </a:pPr>
            <a:r>
              <a:t>Platform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44752"/>
            <a:ext cx="4754880" cy="658368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545336"/>
            <a:ext cx="16002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2235A"/>
                </a:solidFill>
                <a:latin typeface="Aptos"/>
              </a:defRPr>
            </a:pPr>
            <a:r>
              <a:t>Business Risk Control Center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527048"/>
            <a:ext cx="2788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90" b="0">
                <a:solidFill>
                  <a:srgbClr val="283041"/>
                </a:solidFill>
                <a:latin typeface="Aptos"/>
              </a:defRPr>
            </a:pPr>
            <a:r>
              <a:t>Unified view of complaint propensity, conduct risk, actuarial review findings and decision-assurance status.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267712"/>
            <a:ext cx="4754880" cy="658368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368296"/>
            <a:ext cx="16002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2235A"/>
                </a:solidFill>
                <a:latin typeface="Aptos"/>
              </a:defRPr>
            </a:pPr>
            <a:r>
              <a:t>Autonomous Agent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350008"/>
            <a:ext cx="2788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90" b="0">
                <a:solidFill>
                  <a:srgbClr val="283041"/>
                </a:solidFill>
                <a:latin typeface="Aptos"/>
              </a:defRPr>
            </a:pPr>
            <a:r>
              <a:t>Two specialist agents continuously analyze business, customer and actuarial evidence with scheduled and event-driven processing.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090672"/>
            <a:ext cx="4754880" cy="658368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3191256"/>
            <a:ext cx="16002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2235A"/>
                </a:solidFill>
                <a:latin typeface="Aptos"/>
              </a:defRPr>
            </a:pPr>
            <a:r>
              <a:t>AI &amp; Context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3172968"/>
            <a:ext cx="2788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90" b="0">
                <a:solidFill>
                  <a:srgbClr val="283041"/>
                </a:solidFill>
                <a:latin typeface="Aptos"/>
              </a:defRPr>
            </a:pPr>
            <a:r>
              <a:t>Governed predictive models, RAG, LLM reasoning, evidence reconciliation and explainability across domain data.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913632"/>
            <a:ext cx="4754880" cy="658368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4014216"/>
            <a:ext cx="16002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2235A"/>
                </a:solidFill>
                <a:latin typeface="Aptos"/>
              </a:defRPr>
            </a:pPr>
            <a:r>
              <a:t>Logic Apps / 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3995928"/>
            <a:ext cx="2788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90" b="0">
                <a:solidFill>
                  <a:srgbClr val="283041"/>
                </a:solidFill>
                <a:latin typeface="Aptos"/>
              </a:defRPr>
            </a:pPr>
            <a:r>
              <a:t>Routes investigations, reviews, approvals, interventions and assurance packs through controlled enterprise workflows.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23560" y="1024128"/>
            <a:ext cx="5989320" cy="3611880"/>
          </a:xfrm>
          <a:prstGeom prst="roundRect">
            <a:avLst/>
          </a:prstGeom>
          <a:solidFill>
            <a:srgbClr val="FAFBFF"/>
          </a:solidFill>
          <a:ln w="10160">
            <a:solidFill>
              <a:srgbClr val="BEC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70448" y="1243584"/>
            <a:ext cx="5440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532491"/>
                </a:solidFill>
                <a:latin typeface="Aptos"/>
              </a:defRPr>
            </a:pPr>
            <a:r>
              <a:t>Continuous Business Intelligence Workflow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97880" y="1664208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07608" y="1773936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1737360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Ingest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6792" y="1975104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283041"/>
                </a:solidFill>
                <a:latin typeface="Aptos"/>
              </a:defRPr>
            </a:pPr>
            <a:r>
              <a:t>Continuously collect customer, policy, claims and actuarial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59368" y="1664208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69096" y="1773936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1737360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1975104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283041"/>
                </a:solidFill>
                <a:latin typeface="Aptos"/>
              </a:defRPr>
            </a:pPr>
            <a:r>
              <a:t>Predict complaint risk or reconcile actuarial conclusions to data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97880" y="2560320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07608" y="2670048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2" y="2633472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Challenge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2871215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283041"/>
                </a:solidFill>
                <a:latin typeface="Aptos"/>
              </a:defRPr>
            </a:pPr>
            <a:r>
              <a:t>Explain drivers, anomalies, assumptions and evidence gaps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59368" y="2560320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769096" y="2670048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2633472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Prioritize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2871215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283041"/>
                </a:solidFill>
                <a:latin typeface="Aptos"/>
              </a:defRPr>
            </a:pPr>
            <a:r>
              <a:t>Rank customer-risk or actuarial issues by materiality and confidence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97880" y="3456432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07608" y="3566160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36792" y="3529584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Act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36792" y="3767328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283041"/>
                </a:solidFill>
                <a:latin typeface="Aptos"/>
              </a:defRPr>
            </a:pPr>
            <a:r>
              <a:t>Route investigations, interventions or actuarial review workflows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59368" y="3456432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769096" y="3566160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98280" y="3529584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Learn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98280" y="3767328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283041"/>
                </a:solidFill>
                <a:latin typeface="Aptos"/>
              </a:defRPr>
            </a:pPr>
            <a:r>
              <a:t>Monitor outcomes, drift, fairness and recurring review findings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489204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532491"/>
                </a:solidFill>
                <a:latin typeface="Aptos"/>
              </a:defRPr>
            </a:pPr>
            <a:r>
              <a:t>Business Outcomes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5285232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↓ Preventable Complaints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39112" y="528523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10" b="0">
                <a:solidFill>
                  <a:srgbClr val="283041"/>
                </a:solidFill>
                <a:latin typeface="Aptos"/>
              </a:defRPr>
            </a:pPr>
            <a:r>
              <a:t>Earlier identification of complaint-prone patterns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25112" y="5285232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↑ Customer Experience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69864" y="528523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10" b="0">
                <a:solidFill>
                  <a:srgbClr val="283041"/>
                </a:solidFill>
                <a:latin typeface="Aptos"/>
              </a:defRPr>
            </a:pPr>
            <a:r>
              <a:t>Proactive investigation and intervention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55864" y="5285232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↑ Decision Confidence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0616" y="528523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10" b="0">
                <a:solidFill>
                  <a:srgbClr val="283041"/>
                </a:solidFill>
                <a:latin typeface="Aptos"/>
              </a:defRPr>
            </a:pPr>
            <a:r>
              <a:t>Independent actuarial challenge before publication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5852160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↓ Governance Risk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39112" y="585216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10" b="0">
                <a:solidFill>
                  <a:srgbClr val="283041"/>
                </a:solidFill>
                <a:latin typeface="Aptos"/>
              </a:defRPr>
            </a:pPr>
            <a:r>
              <a:t>Evidence-linked findings and transparent review trails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25112" y="5852160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↓ Manual Review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69864" y="585216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10" b="0">
                <a:solidFill>
                  <a:srgbClr val="283041"/>
                </a:solidFill>
                <a:latin typeface="Aptos"/>
              </a:defRPr>
            </a:pPr>
            <a:r>
              <a:t>Automated prediction, reconciliation and prioritization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55864" y="5852160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↑ Auditability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00616" y="585216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10" b="0">
                <a:solidFill>
                  <a:srgbClr val="283041"/>
                </a:solidFill>
                <a:latin typeface="Aptos"/>
              </a:defRPr>
            </a:pPr>
            <a:r>
              <a:t>Traceable evidence, assumptions and decisions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4360" y="6547104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5C6678"/>
                </a:solidFill>
                <a:latin typeface="Aptos"/>
              </a:defRPr>
            </a:pPr>
            <a:r>
              <a:t>Principle: continuously ingest → analyze → challenge → prioritize → act/review → validate → learn, with human accountability retained for material decisions.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972800" y="274320"/>
            <a:ext cx="594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1">
                <a:solidFill>
                  <a:srgbClr val="5C6678"/>
                </a:solidFill>
                <a:latin typeface="Aptos"/>
              </a:defRPr>
            </a:pPr>
            <a:r>
              <a:t>17</a:t>
            </a:r>
          </a:p>
        </p:txBody>
      </p:sp>
      <p:pic>
        <p:nvPicPr>
          <p:cNvPr id="86" name="Picture 85" descr="A computer screen shot of a business intelligence diagram&#10;&#10;AI-generated content may be incorrect.">
            <a:extLst>
              <a:ext uri="{FF2B5EF4-FFF2-40B4-BE49-F238E27FC236}">
                <a16:creationId xmlns:a16="http://schemas.microsoft.com/office/drawing/2014/main" id="{6A37CE57-117B-6DD4-6EC1-338BE6A43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838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12235A"/>
                </a:solidFill>
                <a:latin typeface="Aptos"/>
              </a:defRPr>
            </a:pPr>
            <a:r>
              <a:t>Business AI Autonomous Agent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13232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C6678"/>
                </a:solidFill>
                <a:latin typeface="Aptos"/>
              </a:defRPr>
            </a:pPr>
            <a:r>
              <a:t>Two specialist agents share a governed data, AI, evidence and workflow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594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1">
                <a:solidFill>
                  <a:srgbClr val="5C6678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5166360" cy="2194560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502920" cy="502920"/>
          </a:xfrm>
          <a:prstGeom prst="roundRect">
            <a:avLst/>
          </a:prstGeom>
          <a:solidFill>
            <a:srgbClr val="532491"/>
          </a:solidFill>
          <a:ln w="10160">
            <a:solidFill>
              <a:srgbClr val="532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700784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554480"/>
            <a:ext cx="3977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1">
                <a:solidFill>
                  <a:srgbClr val="12235A"/>
                </a:solidFill>
                <a:latin typeface="Aptos"/>
              </a:defRPr>
            </a:pPr>
            <a:r>
              <a:t>Future Complaints Predictor Agent for Underwriting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4526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0" b="0">
                <a:solidFill>
                  <a:srgbClr val="283041"/>
                </a:solidFill>
                <a:latin typeface="Aptos"/>
              </a:defRPr>
            </a:pPr>
            <a:r>
              <a:t>Predict complaint propensity across customers, policies, products and processes; explain drivers and recommend proactive investigations.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4526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237E5A"/>
                </a:solidFill>
                <a:latin typeface="Aptos"/>
              </a:defRPr>
            </a:pPr>
            <a:r>
              <a:t>Trigger: Customer interaction / claim / underwriting / policy signals + scheduled model runs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59" y="1280160"/>
            <a:ext cx="5166360" cy="2194560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63640" y="1554480"/>
            <a:ext cx="502920" cy="502920"/>
          </a:xfrm>
          <a:prstGeom prst="roundRect">
            <a:avLst/>
          </a:prstGeom>
          <a:solidFill>
            <a:srgbClr val="532491"/>
          </a:solidFill>
          <a:ln w="10160">
            <a:solidFill>
              <a:srgbClr val="532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1700784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1554480"/>
            <a:ext cx="3977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1">
                <a:solidFill>
                  <a:srgbClr val="12235A"/>
                </a:solidFill>
                <a:latin typeface="Aptos"/>
              </a:defRPr>
            </a:pPr>
            <a:r>
              <a:t>Decision Assurance Agent for Actuarial Insights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799" y="2148840"/>
            <a:ext cx="4526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0" b="0">
                <a:solidFill>
                  <a:srgbClr val="283041"/>
                </a:solidFill>
                <a:latin typeface="Aptos"/>
              </a:defRPr>
            </a:pPr>
            <a:r>
              <a:t>Independently reconcile actuarial narratives with claims, exposure and reserve data; challenge assumptions and produce evidence-linked review findings.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799" y="2926080"/>
            <a:ext cx="4526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237E5A"/>
                </a:solidFill>
                <a:latin typeface="Aptos"/>
              </a:defRPr>
            </a:pPr>
            <a:r>
              <a:t>Trigger: Monthly actuarial reports / material movements / data refresh + scheduled assurance reviews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79476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532491"/>
                </a:solidFill>
                <a:latin typeface="Aptos"/>
              </a:defRPr>
            </a:pPr>
            <a:r>
              <a:t>Shared Autonomous Operating Model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206240"/>
            <a:ext cx="2578608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2648" y="4297679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0" b="1">
                <a:solidFill>
                  <a:srgbClr val="532491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4752" y="4279392"/>
            <a:ext cx="1508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70" b="0">
                <a:solidFill>
                  <a:srgbClr val="283041"/>
                </a:solidFill>
                <a:latin typeface="Aptos"/>
              </a:defRPr>
            </a:pPr>
            <a:r>
              <a:t>Domain data &amp; events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37560" y="4206240"/>
            <a:ext cx="2578608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47288" y="4297679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0" b="1">
                <a:solidFill>
                  <a:srgbClr val="532491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79392" y="4279392"/>
            <a:ext cx="1508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70" b="0">
                <a:solidFill>
                  <a:srgbClr val="283041"/>
                </a:solidFill>
                <a:latin typeface="Aptos"/>
              </a:defRPr>
            </a:pPr>
            <a:r>
              <a:t>Predict / reconcile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4206240"/>
            <a:ext cx="2578608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81928" y="4297679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0" b="1">
                <a:solidFill>
                  <a:srgbClr val="532491"/>
                </a:solidFill>
                <a:latin typeface="Aptos"/>
              </a:defRPr>
            </a:pPr>
            <a:r>
              <a:t>Challenge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4279392"/>
            <a:ext cx="1508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70" b="0">
                <a:solidFill>
                  <a:srgbClr val="283041"/>
                </a:solidFill>
                <a:latin typeface="Aptos"/>
              </a:defRPr>
            </a:pPr>
            <a:r>
              <a:t>Explain evidence &amp; assumptions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06840" y="4206240"/>
            <a:ext cx="2578608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16568" y="4297679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0" b="1">
                <a:solidFill>
                  <a:srgbClr val="532491"/>
                </a:solidFill>
                <a:latin typeface="Aptos"/>
              </a:defRPr>
            </a:pPr>
            <a:r>
              <a:t>Prioritize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48672" y="4279392"/>
            <a:ext cx="1508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70" b="0">
                <a:solidFill>
                  <a:srgbClr val="283041"/>
                </a:solidFill>
                <a:latin typeface="Aptos"/>
              </a:defRPr>
            </a:pPr>
            <a:r>
              <a:t>Risk, materiality &amp; confidence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120640"/>
            <a:ext cx="2578608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2648" y="5212079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0" b="1">
                <a:solidFill>
                  <a:srgbClr val="532491"/>
                </a:solidFill>
                <a:latin typeface="Aptos"/>
              </a:defRPr>
            </a:pPr>
            <a:r>
              <a:t>Act / 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44752" y="5193792"/>
            <a:ext cx="1508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70" b="0">
                <a:solidFill>
                  <a:srgbClr val="283041"/>
                </a:solidFill>
                <a:latin typeface="Aptos"/>
              </a:defRPr>
            </a:pPr>
            <a:r>
              <a:t>Governed workflow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37560" y="5120640"/>
            <a:ext cx="2578608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447288" y="5212079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0" b="1">
                <a:solidFill>
                  <a:srgbClr val="532491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79392" y="5193792"/>
            <a:ext cx="1508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70" b="0">
                <a:solidFill>
                  <a:srgbClr val="283041"/>
                </a:solidFill>
                <a:latin typeface="Aptos"/>
              </a:defRPr>
            </a:pPr>
            <a:r>
              <a:t>Outcomes &amp; assurance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5120640"/>
            <a:ext cx="2578608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81928" y="5212079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0" b="1">
                <a:solidFill>
                  <a:srgbClr val="532491"/>
                </a:solidFill>
                <a:latin typeface="Aptos"/>
              </a:defRPr>
            </a:pPr>
            <a:r>
              <a:t>Learn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14032" y="5193792"/>
            <a:ext cx="1508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70" b="0">
                <a:solidFill>
                  <a:srgbClr val="283041"/>
                </a:solidFill>
                <a:latin typeface="Aptos"/>
              </a:defRPr>
            </a:pPr>
            <a:r>
              <a:t>Drift, fairness &amp; feedback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6053328"/>
            <a:ext cx="11155680" cy="438912"/>
          </a:xfrm>
          <a:prstGeom prst="roundRect">
            <a:avLst/>
          </a:prstGeom>
          <a:solidFill>
            <a:srgbClr val="F7F8FC"/>
          </a:solidFill>
          <a:ln w="10160">
            <a:solidFill>
              <a:srgbClr val="CD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85800" y="6172200"/>
            <a:ext cx="10789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40" b="1">
                <a:solidFill>
                  <a:srgbClr val="12235A"/>
                </a:solidFill>
                <a:latin typeface="Aptos"/>
              </a:defRPr>
            </a:pPr>
            <a:r>
              <a:t>Autonomy model: Low-risk analysis / recommendations → automated output  |  Medium-risk actions → governed workflow  |  Material customer or actuarial decisions → human authorization/sign-off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547104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5C6678"/>
                </a:solidFill>
                <a:latin typeface="Aptos"/>
              </a:defRPr>
            </a:pPr>
            <a:r>
              <a:t>Business AI Autopilot operates continuously in the background; business, actuarial and governance teams intervene where judgement, accountability or customer impact requires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505468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986</TotalTime>
  <Words>2693</Words>
  <Application>Microsoft Office PowerPoint</Application>
  <PresentationFormat>Widescreen</PresentationFormat>
  <Paragraphs>448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Aruna Inamdar</cp:lastModifiedBy>
  <cp:revision>9</cp:revision>
  <dcterms:created xsi:type="dcterms:W3CDTF">2026-08-21T14:34:41Z</dcterms:created>
  <dcterms:modified xsi:type="dcterms:W3CDTF">2026-08-25T04:59:54Z</dcterms:modified>
</cp:coreProperties>
</file>